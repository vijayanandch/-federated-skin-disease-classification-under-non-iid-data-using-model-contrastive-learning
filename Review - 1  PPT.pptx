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64" r:id="rId2"/>
    <p:sldId id="263" r:id="rId3"/>
    <p:sldId id="270" r:id="rId4"/>
    <p:sldId id="271" r:id="rId5"/>
    <p:sldId id="272" r:id="rId6"/>
    <p:sldId id="273" r:id="rId7"/>
    <p:sldId id="274" r:id="rId8"/>
    <p:sldId id="265" r:id="rId9"/>
    <p:sldId id="266" r:id="rId10"/>
    <p:sldId id="267" r:id="rId11"/>
    <p:sldId id="268" r:id="rId12"/>
    <p:sldId id="269" r:id="rId13"/>
    <p:sldId id="275" r:id="rId14"/>
    <p:sldId id="276" r:id="rId15"/>
    <p:sldId id="277" r:id="rId16"/>
    <p:sldId id="278" r:id="rId17"/>
    <p:sldId id="279" r:id="rId18"/>
    <p:sldId id="280" r:id="rId19"/>
    <p:sldId id="281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C7E69"/>
    <a:srgbClr val="EC7E32"/>
    <a:srgbClr val="E77E32"/>
    <a:srgbClr val="E77E69"/>
    <a:srgbClr val="FF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99" autoAdjust="0"/>
    <p:restoredTop sz="94660"/>
  </p:normalViewPr>
  <p:slideViewPr>
    <p:cSldViewPr snapToGrid="0">
      <p:cViewPr varScale="1">
        <p:scale>
          <a:sx n="82" d="100"/>
          <a:sy n="82" d="100"/>
        </p:scale>
        <p:origin x="67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010C68-B77B-4431-A0A7-693CF58E734A}" type="datetimeFigureOut">
              <a:rPr lang="en-IN" smtClean="0"/>
              <a:t>17-09-2026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B2EA21-F04E-4710-B9FC-7A1962EBE7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78753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B2EA21-F04E-4710-B9FC-7A1962EBE760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264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B2EA21-F04E-4710-B9FC-7A1962EBE760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72456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B2EA21-F04E-4710-B9FC-7A1962EBE760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4836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B2EA21-F04E-4710-B9FC-7A1962EBE760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14264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B2EA21-F04E-4710-B9FC-7A1962EBE760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72576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B2EA21-F04E-4710-B9FC-7A1962EBE760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49386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B2EA21-F04E-4710-B9FC-7A1962EBE760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96147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B2EA21-F04E-4710-B9FC-7A1962EBE760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40579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B2EA21-F04E-4710-B9FC-7A1962EBE760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001679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B2EA21-F04E-4710-B9FC-7A1962EBE760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890823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B2EA21-F04E-4710-B9FC-7A1962EBE760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948071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B2EA21-F04E-4710-B9FC-7A1962EBE760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760754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B2EA21-F04E-4710-B9FC-7A1962EBE760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899548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B2EA21-F04E-4710-B9FC-7A1962EBE760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189559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B2EA21-F04E-4710-B9FC-7A1962EBE760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621336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B2EA21-F04E-4710-B9FC-7A1962EBE760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169967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B2EA21-F04E-4710-B9FC-7A1962EBE760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233735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B2EA21-F04E-4710-B9FC-7A1962EBE760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241675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B2EA21-F04E-4710-B9FC-7A1962EBE760}" type="slidenum">
              <a:rPr lang="en-IN" smtClean="0"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91307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77534E-BF6C-2CFD-16E9-84EA6172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280B7E-AAA9-C962-786B-78A0B50E67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2E0A7F-5868-6266-DF6E-1BBFCC073A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81051-4A15-4975-B283-5AE4382EA000}" type="datetime1">
              <a:rPr lang="en-IN" smtClean="0"/>
              <a:t>17-09-2026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B2573E-23F6-BE97-E5F6-D90496C55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VVIT @ Dept. CSM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7E5366-8A91-F195-6550-6C84F49F44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 dirty="0"/>
              <a:t>Slide </a:t>
            </a:r>
            <a:fld id="{0F06A4E2-163B-4ABA-8562-AD05AC3F17C5}" type="slidenum">
              <a:rPr lang="en-IN" smtClean="0"/>
              <a:pPr/>
              <a:t>‹#›</a:t>
            </a:fld>
            <a:r>
              <a:rPr lang="en-IN" dirty="0"/>
              <a:t> 75</a:t>
            </a:r>
          </a:p>
        </p:txBody>
      </p:sp>
    </p:spTree>
    <p:extLst>
      <p:ext uri="{BB962C8B-B14F-4D97-AF65-F5344CB8AC3E}">
        <p14:creationId xmlns:p14="http://schemas.microsoft.com/office/powerpoint/2010/main" val="17875112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A9E308-5323-AE5D-6FA7-ED71A6BAE3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5A451D-BD97-7FD0-FF0C-A5112C679A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91E600-3BBF-7179-64F8-7BF678584D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8024DB-6B9A-4615-862D-DCC9162E1D46}" type="datetime1">
              <a:rPr lang="en-IN" smtClean="0"/>
              <a:t>17-09-2026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A049D0-589B-356A-C132-17EC1259BA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VVIT @ Dept. CSM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DB78BB-28AC-EA14-DC42-29260E08F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6A4E2-163B-4ABA-8562-AD05AC3F17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61987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4207D0-82DE-FA4A-EADB-1BEC487ABF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8600A5-5C2C-00C3-916A-DF6214BB9F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B2F5CE-74CC-CF22-710E-082B7D801E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6FCEB4-FD16-4B07-9207-FB300F7B14E0}" type="datetime1">
              <a:rPr lang="en-IN" smtClean="0"/>
              <a:t>17-09-2026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8AAAD5-EBF3-6851-32E4-D4FBA96C1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VVIT @ Dept. CSM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573601-9A03-2F15-2F0A-327D55FFD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6A4E2-163B-4ABA-8562-AD05AC3F17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18754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4E6E04-DE19-84EF-6EAD-5E68D54F7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136FCB-7A4F-B695-D2E9-54090A9445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EC53CD-6C00-99BA-5BD0-0E766D3904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A650DD-602A-CC85-5499-22E0FF3010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49330-105E-4C2D-A945-D7CB0B65AA0D}" type="datetime1">
              <a:rPr lang="en-IN" smtClean="0"/>
              <a:t>17-09-2026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49BBE1-B537-7E2E-C2C4-08845C67D1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VVIT @ Dept. CSM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F4B757-EF27-F899-BAF4-B18811737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6A4E2-163B-4ABA-8562-AD05AC3F17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93617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AA2E0-9C62-08C2-AB3E-B35BC5C5A0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C222F9-75B3-17FE-C283-DD4BECA435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61EB91-21C0-BA49-75C9-60FD0E0EF9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E401927-DF5C-9C56-8562-7016E65722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F9C59F2-F071-5440-8C46-00C73B7D05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0961286-08BE-878F-F428-4DDDD6BC56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2F794-44E1-4BEF-BC28-A1686AB91B35}" type="datetime1">
              <a:rPr lang="en-IN" smtClean="0"/>
              <a:t>17-09-2026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11F68E0-6F17-B4CD-53C3-DFC164696B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VVIT @ Dept. CSM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1AC4CBA-01B5-C2C4-5335-B4EB35E5A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6A4E2-163B-4ABA-8562-AD05AC3F17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23399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903B32-7417-39CF-B839-3EEB29A1C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6A2FE7-36B6-6E9C-5856-38F958DDB6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309A1-C81B-427D-BCEA-27B741B28E1A}" type="datetime1">
              <a:rPr lang="en-IN" smtClean="0"/>
              <a:t>17-09-2026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E31B30-D694-3C06-A324-C1D8999455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VVIT @ Dept. CSM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1F9968-5814-8F57-EE5C-05F51ABB34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6A4E2-163B-4ABA-8562-AD05AC3F17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25345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7A244DA-A9F6-ED5C-2118-0A44894C88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6757F5-B3DD-41B2-8AD1-E2C7F01E8325}" type="datetime1">
              <a:rPr lang="en-IN" smtClean="0"/>
              <a:t>17-09-2026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500EC8-C1AB-B577-EA4E-7D2E7D7F1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VVIT @ Dept. CSM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839834-7C1C-DD95-00F7-1046CC02C9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6A4E2-163B-4ABA-8562-AD05AC3F17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4207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F0408B-6746-EBBF-A1B8-482E0D54EF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DA8A51-0194-E201-F62E-7028F44903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ADF6D2-0007-C8C6-5E66-A73252FA51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D9C60F-EE63-63C0-A3C9-201A1DEB63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32F12-6279-426C-8A42-8E638B69DA5E}" type="datetime1">
              <a:rPr lang="en-IN" smtClean="0"/>
              <a:t>17-09-2026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E88CB9-B2B4-DD3C-DF42-5FF8C80C06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VVIT @ Dept. CSM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5FCC53-DC75-9AFB-03C5-B065AC50C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6A4E2-163B-4ABA-8562-AD05AC3F17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56698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F614FA-37B6-93A5-E0E8-E926B5368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80E05A2-0EA7-C30C-EFFA-E0B149436A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B07175-07C8-0612-615D-57BF8C0741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236AA1-2BD7-CB7C-1AA4-34D02985A8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B4110-22B7-47D9-9F58-54C5B302AF6D}" type="datetime1">
              <a:rPr lang="en-IN" smtClean="0"/>
              <a:t>17-09-2026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CC2950-CA0B-091E-E2BA-A60E75FD61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VVIT @ Dept. CSM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068AF4-0554-5223-D39A-DA1DC68D0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6A4E2-163B-4ABA-8562-AD05AC3F17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66392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CE9AE2-374C-4EF3-9532-31D0CE1D4F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D2E305-5684-04F7-337B-C867ECD394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744A89-E93B-DDA0-25FF-C2242EE97D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575400-B1DF-4AF6-AB50-CBCE8962669C}" type="datetime1">
              <a:rPr lang="en-IN" smtClean="0"/>
              <a:t>17-09-2026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DDB2AC-EE20-661D-48EC-09C572C9F8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VVIT @ Dept. CSM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A2A3F4-0238-70CC-420E-0F280FECA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6A4E2-163B-4ABA-8562-AD05AC3F17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19565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FA41AF6-9AAD-E282-9DDD-E66CF88ADC8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CF3A46-D4B7-3837-9A94-A663DE2A25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B33946-DFAA-48C8-71CA-3B2501710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8D284-3CDB-49DE-A927-05878722C64F}" type="datetime1">
              <a:rPr lang="en-IN" smtClean="0"/>
              <a:t>17-09-2026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7106D7-F25C-47BB-2611-089736A84E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VVIT @ Dept. CSM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E811E5-1590-562C-784B-5F2A1B3D36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6A4E2-163B-4ABA-8562-AD05AC3F17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58216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DEF6F91-B629-DA42-57EF-31DA782B6B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2AECB1-08ED-AF18-FDF8-8FE7F9F7D6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CC7C5D-06B8-2007-9878-FF4B74A5DC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2B7110-61B4-45BA-A110-4FCE83D5E720}" type="datetime1">
              <a:rPr lang="en-IN" smtClean="0"/>
              <a:t>17-09-2026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38ADC9-EB89-D372-7DE5-F164AC424E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VVIT @ Dept. CSM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4E92DD-B99B-9C26-E756-4CB70ABD4D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06A4E2-163B-4ABA-8562-AD05AC3F17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67263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1A8B0-3C3E-4DAC-946D-F1A2452D5558}" type="datetime1">
              <a:rPr lang="en-IN" smtClean="0">
                <a:solidFill>
                  <a:srgbClr val="E77E69"/>
                </a:solidFill>
              </a:rPr>
              <a:t>17-09-2026</a:t>
            </a:fld>
            <a:endParaRPr lang="en-IN" dirty="0">
              <a:solidFill>
                <a:srgbClr val="E77E69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6A4E2-163B-4ABA-8562-AD05AC3F17C5}" type="slidenum">
              <a:rPr lang="en-IN" smtClean="0">
                <a:solidFill>
                  <a:srgbClr val="E77E69"/>
                </a:solidFill>
              </a:rPr>
              <a:t>1</a:t>
            </a:fld>
            <a:endParaRPr lang="en-IN" dirty="0">
              <a:solidFill>
                <a:srgbClr val="E77E69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8880" y="223842"/>
            <a:ext cx="2174240" cy="151743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84698" y="1714110"/>
            <a:ext cx="982260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Federated Skin Disease Classification under Non-IID Data Using </a:t>
            </a:r>
          </a:p>
          <a:p>
            <a:pPr algn="ctr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Model-Contrastive Learning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64925" y="2751597"/>
            <a:ext cx="25314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rgbClr val="E77E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Major Project Review - 1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16184" y="3102396"/>
            <a:ext cx="2159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ID: AIM-C07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97887" y="4841655"/>
            <a:ext cx="29367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Mr.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Ch.Vijayananda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Ratnam </a:t>
            </a:r>
          </a:p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Professor, CSM, VVIT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6329" y="4315108"/>
            <a:ext cx="26085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2000" i="1" dirty="0">
                <a:solidFill>
                  <a:srgbClr val="E77E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Batch Members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23548" y="4936546"/>
            <a:ext cx="28255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Student 1 – 23BQ1A61B0</a:t>
            </a:r>
          </a:p>
          <a:p>
            <a:r>
              <a:rPr lang="en-IN" dirty="0"/>
              <a:t>Student 2 – 23BQ1A61B3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08286" y="4936546"/>
            <a:ext cx="26789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Student 3 – 23BQ1A61F5</a:t>
            </a:r>
          </a:p>
          <a:p>
            <a:r>
              <a:rPr lang="en-IN" dirty="0"/>
              <a:t>Student 4 – 24BQ5A6141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56497" y="4315108"/>
            <a:ext cx="16194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2000" i="1" dirty="0">
                <a:solidFill>
                  <a:srgbClr val="E77E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Guide</a:t>
            </a:r>
          </a:p>
        </p:txBody>
      </p:sp>
      <p:sp>
        <p:nvSpPr>
          <p:cNvPr id="15" name="Footer Placeholder 11">
            <a:extLst>
              <a:ext uri="{FF2B5EF4-FFF2-40B4-BE49-F238E27FC236}">
                <a16:creationId xmlns:a16="http://schemas.microsoft.com/office/drawing/2014/main" id="{D814EF05-CC25-9D43-57B5-90EDB1ED1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99271" y="6460922"/>
            <a:ext cx="4114800" cy="365125"/>
          </a:xfrm>
        </p:spPr>
        <p:txBody>
          <a:bodyPr/>
          <a:lstStyle/>
          <a:p>
            <a:r>
              <a:rPr lang="en-IN" dirty="0">
                <a:solidFill>
                  <a:srgbClr val="E77E32"/>
                </a:solidFill>
              </a:rPr>
              <a:t>Dept. CSM @ VVIT</a:t>
            </a:r>
          </a:p>
        </p:txBody>
      </p:sp>
    </p:spTree>
    <p:extLst>
      <p:ext uri="{BB962C8B-B14F-4D97-AF65-F5344CB8AC3E}">
        <p14:creationId xmlns:p14="http://schemas.microsoft.com/office/powerpoint/2010/main" val="5019899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A7E60D7-07A0-BF33-3E66-E2F8C99B0E41}"/>
              </a:ext>
            </a:extLst>
          </p:cNvPr>
          <p:cNvSpPr/>
          <p:nvPr/>
        </p:nvSpPr>
        <p:spPr>
          <a:xfrm>
            <a:off x="-1" y="6980"/>
            <a:ext cx="12192000" cy="837398"/>
          </a:xfrm>
          <a:prstGeom prst="rect">
            <a:avLst/>
          </a:prstGeom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3598CB1-43FE-F616-74FA-6AEE59FA6BF1}"/>
              </a:ext>
            </a:extLst>
          </p:cNvPr>
          <p:cNvSpPr/>
          <p:nvPr/>
        </p:nvSpPr>
        <p:spPr>
          <a:xfrm>
            <a:off x="0" y="6451517"/>
            <a:ext cx="12192000" cy="393289"/>
          </a:xfrm>
          <a:prstGeom prst="rect">
            <a:avLst/>
          </a:prstGeom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87C7729E-193F-258C-8EF4-20F3CCBF18C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460922"/>
            <a:ext cx="997974" cy="365125"/>
          </a:xfrm>
        </p:spPr>
        <p:txBody>
          <a:bodyPr/>
          <a:lstStyle/>
          <a:p>
            <a:fld id="{C72AAC90-D07C-417D-96C6-81B39DB87062}" type="datetime1">
              <a:rPr lang="en-IN" smtClean="0">
                <a:solidFill>
                  <a:schemeClr val="tx1"/>
                </a:solidFill>
              </a:rPr>
              <a:t>17-09-2026</a:t>
            </a:fld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D814EF05-CC25-9D43-57B5-90EDB1ED1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99271" y="6460922"/>
            <a:ext cx="4114800" cy="365125"/>
          </a:xfrm>
        </p:spPr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Dept. CSM @ VVIT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C4BF904-2B4D-1986-6D4C-27CBD9A5E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27443" y="6478792"/>
            <a:ext cx="876067" cy="379208"/>
          </a:xfrm>
        </p:spPr>
        <p:txBody>
          <a:bodyPr/>
          <a:lstStyle/>
          <a:p>
            <a:fld id="{0F06A4E2-163B-4ABA-8562-AD05AC3F17C5}" type="slidenum">
              <a:rPr lang="en-IN" sz="1800" smtClean="0">
                <a:solidFill>
                  <a:schemeClr val="tx1"/>
                </a:solidFill>
              </a:rPr>
              <a:t>2</a:t>
            </a:fld>
            <a:endParaRPr lang="en-IN" sz="1800" dirty="0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13CE1DE-D210-C7A2-61C0-FF7B6B511F8A}"/>
              </a:ext>
            </a:extLst>
          </p:cNvPr>
          <p:cNvSpPr txBox="1"/>
          <p:nvPr/>
        </p:nvSpPr>
        <p:spPr>
          <a:xfrm flipH="1">
            <a:off x="135928" y="877163"/>
            <a:ext cx="119201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0EC79EE-C1C4-E275-0987-67B7B3A60CCB}"/>
              </a:ext>
            </a:extLst>
          </p:cNvPr>
          <p:cNvSpPr txBox="1"/>
          <p:nvPr/>
        </p:nvSpPr>
        <p:spPr>
          <a:xfrm>
            <a:off x="8955476" y="31393"/>
            <a:ext cx="314803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Guide: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Mr.Ch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Vijayananda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Ratnam 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ID: C07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23BQ1A61B0 (TL), 23BQ1A61B3,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23BQ1A61F5, 24BQ5A6141</a:t>
            </a:r>
            <a:endParaRPr lang="en-IN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86" y="92353"/>
            <a:ext cx="993618" cy="69346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0EC79EE-C1C4-E275-0987-67B7B3A60CCB}"/>
              </a:ext>
            </a:extLst>
          </p:cNvPr>
          <p:cNvSpPr txBox="1"/>
          <p:nvPr/>
        </p:nvSpPr>
        <p:spPr>
          <a:xfrm>
            <a:off x="1531467" y="82617"/>
            <a:ext cx="742401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Federated Skin Disease Classification under Non-IID Data Using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Model-Contrastive Learning 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D4A8B8E-EA79-A5C8-4B8E-7C508CFE851A}"/>
              </a:ext>
            </a:extLst>
          </p:cNvPr>
          <p:cNvSpPr/>
          <p:nvPr/>
        </p:nvSpPr>
        <p:spPr>
          <a:xfrm>
            <a:off x="382553" y="1338131"/>
            <a:ext cx="11374018" cy="1321093"/>
          </a:xfrm>
          <a:prstGeom prst="round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1. Medical Data Privacy Limits Centralized Learning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Medical skin-disease images may contain sensitive patient information. Centralizing data from different hospitals or institutions creates privacy and data-sharing concerns, making collaborative model training difficult.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7B051B9-1AF6-A090-F8BA-99B83B5FA495}"/>
              </a:ext>
            </a:extLst>
          </p:cNvPr>
          <p:cNvSpPr/>
          <p:nvPr/>
        </p:nvSpPr>
        <p:spPr>
          <a:xfrm>
            <a:off x="291457" y="2853961"/>
            <a:ext cx="11465113" cy="1446279"/>
          </a:xfrm>
          <a:prstGeom prst="round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2. Non-IID Data Causes Client Drift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In Federated Learning, different clients may have different distributions of skin diseases and image characteristics. This Non-IID data causes local models to learn different patterns, leading to client drift and reducing the consistency of the global model.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291C332C-C519-4952-872B-2819104C111A}"/>
              </a:ext>
            </a:extLst>
          </p:cNvPr>
          <p:cNvSpPr/>
          <p:nvPr/>
        </p:nvSpPr>
        <p:spPr>
          <a:xfrm>
            <a:off x="291458" y="4507237"/>
            <a:ext cx="11465112" cy="1473599"/>
          </a:xfrm>
          <a:prstGeom prst="round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3. Inconsistent Classification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Client drift can reduce global model performance, particularly for underrepresented skin disease categories, creating a need for improved federated learning under heterogeneous data.</a:t>
            </a:r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64496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A7E60D7-07A0-BF33-3E66-E2F8C99B0E41}"/>
              </a:ext>
            </a:extLst>
          </p:cNvPr>
          <p:cNvSpPr/>
          <p:nvPr/>
        </p:nvSpPr>
        <p:spPr>
          <a:xfrm>
            <a:off x="-1" y="6980"/>
            <a:ext cx="12192000" cy="837398"/>
          </a:xfrm>
          <a:prstGeom prst="rect">
            <a:avLst/>
          </a:prstGeom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3598CB1-43FE-F616-74FA-6AEE59FA6BF1}"/>
              </a:ext>
            </a:extLst>
          </p:cNvPr>
          <p:cNvSpPr/>
          <p:nvPr/>
        </p:nvSpPr>
        <p:spPr>
          <a:xfrm>
            <a:off x="0" y="6451517"/>
            <a:ext cx="12192000" cy="393289"/>
          </a:xfrm>
          <a:prstGeom prst="rect">
            <a:avLst/>
          </a:prstGeom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87C7729E-193F-258C-8EF4-20F3CCBF18C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460922"/>
            <a:ext cx="997974" cy="365125"/>
          </a:xfrm>
        </p:spPr>
        <p:txBody>
          <a:bodyPr/>
          <a:lstStyle/>
          <a:p>
            <a:fld id="{C72AAC90-D07C-417D-96C6-81B39DB87062}" type="datetime1">
              <a:rPr lang="en-IN" smtClean="0">
                <a:solidFill>
                  <a:schemeClr val="tx1"/>
                </a:solidFill>
              </a:rPr>
              <a:t>17-09-2026</a:t>
            </a:fld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C4BF904-2B4D-1986-6D4C-27CBD9A5E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27443" y="6478792"/>
            <a:ext cx="876067" cy="379208"/>
          </a:xfrm>
        </p:spPr>
        <p:txBody>
          <a:bodyPr/>
          <a:lstStyle/>
          <a:p>
            <a:fld id="{0F06A4E2-163B-4ABA-8562-AD05AC3F17C5}" type="slidenum">
              <a:rPr lang="en-IN" sz="1800" smtClean="0">
                <a:solidFill>
                  <a:schemeClr val="tx1"/>
                </a:solidFill>
              </a:rPr>
              <a:t>3</a:t>
            </a:fld>
            <a:endParaRPr lang="en-IN" sz="1800" dirty="0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13CE1DE-D210-C7A2-61C0-FF7B6B511F8A}"/>
              </a:ext>
            </a:extLst>
          </p:cNvPr>
          <p:cNvSpPr txBox="1"/>
          <p:nvPr/>
        </p:nvSpPr>
        <p:spPr>
          <a:xfrm flipH="1">
            <a:off x="135928" y="877163"/>
            <a:ext cx="20638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0EC79EE-C1C4-E275-0987-67B7B3A60CCB}"/>
              </a:ext>
            </a:extLst>
          </p:cNvPr>
          <p:cNvSpPr txBox="1"/>
          <p:nvPr/>
        </p:nvSpPr>
        <p:spPr>
          <a:xfrm>
            <a:off x="8955476" y="31393"/>
            <a:ext cx="314803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Guide: 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Mr.Ch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. 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Vijayananda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Ratnam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Batch ID: C07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23BQ1A61B0 (TL), 23BQ1A61B3,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23BQ1A61F5, 24BQ5A6141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endParaRPr lang="en-IN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86" y="92353"/>
            <a:ext cx="993618" cy="69346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0EC79EE-C1C4-E275-0987-67B7B3A60CCB}"/>
              </a:ext>
            </a:extLst>
          </p:cNvPr>
          <p:cNvSpPr txBox="1"/>
          <p:nvPr/>
        </p:nvSpPr>
        <p:spPr>
          <a:xfrm>
            <a:off x="1531467" y="82617"/>
            <a:ext cx="742401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Federated Skin Disease Classification under Non-IID Data Using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Model-Contrastive Learning 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Footer Placeholder 11">
            <a:extLst>
              <a:ext uri="{FF2B5EF4-FFF2-40B4-BE49-F238E27FC236}">
                <a16:creationId xmlns:a16="http://schemas.microsoft.com/office/drawing/2014/main" id="{D814EF05-CC25-9D43-57B5-90EDB1ED1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99271" y="6460922"/>
            <a:ext cx="4114800" cy="365125"/>
          </a:xfrm>
        </p:spPr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Dept. CSM @ VVIT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13CE1DE-D210-C7A2-61C0-FF7B6B511F8A}"/>
              </a:ext>
            </a:extLst>
          </p:cNvPr>
          <p:cNvSpPr txBox="1"/>
          <p:nvPr/>
        </p:nvSpPr>
        <p:spPr>
          <a:xfrm flipH="1">
            <a:off x="135928" y="1326501"/>
            <a:ext cx="119201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Proposed Method | </a:t>
            </a:r>
            <a:r>
              <a:rPr lang="en-IN" sz="14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&amp; Setup | key Results | Strengths &amp; Limitations | Relevance to my research |</a:t>
            </a:r>
          </a:p>
        </p:txBody>
      </p:sp>
      <p:sp>
        <p:nvSpPr>
          <p:cNvPr id="6" name="Rectangle 5"/>
          <p:cNvSpPr/>
          <p:nvPr/>
        </p:nvSpPr>
        <p:spPr>
          <a:xfrm>
            <a:off x="2082799" y="862390"/>
            <a:ext cx="1002070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/>
              <a:t>Ref 01 – </a:t>
            </a:r>
            <a:r>
              <a:rPr lang="en-IN" sz="1400" b="1" dirty="0"/>
              <a:t>Federated Learning for Medical Image Analysis: A Survey</a:t>
            </a:r>
            <a:br>
              <a:rPr lang="en-US" sz="1400" dirty="0"/>
            </a:br>
            <a:r>
              <a:rPr lang="en-US" sz="1400" i="1" dirty="0"/>
              <a:t>Author et al., 2024 | IEEE Transactions on Medical Imaging</a:t>
            </a:r>
            <a:endParaRPr lang="en-IN" sz="1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02A6428-E33B-AFAD-9F82-9D05835E2826}"/>
              </a:ext>
            </a:extLst>
          </p:cNvPr>
          <p:cNvSpPr txBox="1"/>
          <p:nvPr/>
        </p:nvSpPr>
        <p:spPr>
          <a:xfrm>
            <a:off x="498987" y="1741384"/>
            <a:ext cx="7949681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Proposed Method</a:t>
            </a:r>
          </a:p>
          <a:p>
            <a:pPr lvl="0"/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Presents a comprehensive </a:t>
            </a:r>
            <a:r>
              <a:rPr lang="en-IN" b="1" dirty="0"/>
              <a:t>Federated Learning (FL)</a:t>
            </a:r>
            <a:r>
              <a:rPr lang="en-IN" dirty="0"/>
              <a:t> framework for medical image analysis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Explains the </a:t>
            </a:r>
            <a:r>
              <a:rPr lang="en-IN" b="1" dirty="0"/>
              <a:t>client–server FL architecture</a:t>
            </a:r>
            <a:r>
              <a:rPr lang="en-IN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Medical institutions train models </a:t>
            </a:r>
            <a:r>
              <a:rPr lang="en-IN" b="1" dirty="0"/>
              <a:t>locally without sharing raw images</a:t>
            </a:r>
            <a:r>
              <a:rPr lang="en-IN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The server </a:t>
            </a:r>
            <a:r>
              <a:rPr lang="en-IN" b="1" dirty="0"/>
              <a:t>aggregates local model updates</a:t>
            </a:r>
            <a:r>
              <a:rPr lang="en-IN" dirty="0"/>
              <a:t> to build a global model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Discusses major FL challenges, especially </a:t>
            </a:r>
            <a:r>
              <a:rPr lang="en-IN" b="1" dirty="0"/>
              <a:t>Non-IID data distribution</a:t>
            </a:r>
            <a:r>
              <a:rPr lang="en-IN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Reviews methods for improving FL performance under </a:t>
            </a:r>
            <a:r>
              <a:rPr lang="en-IN" b="1" dirty="0"/>
              <a:t>data heterogeneity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690120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A7E60D7-07A0-BF33-3E66-E2F8C99B0E41}"/>
              </a:ext>
            </a:extLst>
          </p:cNvPr>
          <p:cNvSpPr/>
          <p:nvPr/>
        </p:nvSpPr>
        <p:spPr>
          <a:xfrm>
            <a:off x="-1" y="6980"/>
            <a:ext cx="12192000" cy="837398"/>
          </a:xfrm>
          <a:prstGeom prst="rect">
            <a:avLst/>
          </a:prstGeom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3598CB1-43FE-F616-74FA-6AEE59FA6BF1}"/>
              </a:ext>
            </a:extLst>
          </p:cNvPr>
          <p:cNvSpPr/>
          <p:nvPr/>
        </p:nvSpPr>
        <p:spPr>
          <a:xfrm>
            <a:off x="0" y="6451517"/>
            <a:ext cx="12192000" cy="393289"/>
          </a:xfrm>
          <a:prstGeom prst="rect">
            <a:avLst/>
          </a:prstGeom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87C7729E-193F-258C-8EF4-20F3CCBF18C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460922"/>
            <a:ext cx="997974" cy="365125"/>
          </a:xfrm>
        </p:spPr>
        <p:txBody>
          <a:bodyPr/>
          <a:lstStyle/>
          <a:p>
            <a:fld id="{C72AAC90-D07C-417D-96C6-81B39DB87062}" type="datetime1">
              <a:rPr lang="en-IN" smtClean="0">
                <a:solidFill>
                  <a:schemeClr val="tx1"/>
                </a:solidFill>
              </a:rPr>
              <a:t>17-09-2026</a:t>
            </a:fld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C4BF904-2B4D-1986-6D4C-27CBD9A5E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27443" y="6478792"/>
            <a:ext cx="876067" cy="379208"/>
          </a:xfrm>
        </p:spPr>
        <p:txBody>
          <a:bodyPr/>
          <a:lstStyle/>
          <a:p>
            <a:fld id="{0F06A4E2-163B-4ABA-8562-AD05AC3F17C5}" type="slidenum">
              <a:rPr lang="en-IN" sz="1800" smtClean="0">
                <a:solidFill>
                  <a:schemeClr val="tx1"/>
                </a:solidFill>
              </a:rPr>
              <a:t>4</a:t>
            </a:fld>
            <a:endParaRPr lang="en-IN" sz="1800" dirty="0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13CE1DE-D210-C7A2-61C0-FF7B6B511F8A}"/>
              </a:ext>
            </a:extLst>
          </p:cNvPr>
          <p:cNvSpPr txBox="1"/>
          <p:nvPr/>
        </p:nvSpPr>
        <p:spPr>
          <a:xfrm flipH="1">
            <a:off x="135928" y="877163"/>
            <a:ext cx="20638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0EC79EE-C1C4-E275-0987-67B7B3A60CCB}"/>
              </a:ext>
            </a:extLst>
          </p:cNvPr>
          <p:cNvSpPr txBox="1"/>
          <p:nvPr/>
        </p:nvSpPr>
        <p:spPr>
          <a:xfrm>
            <a:off x="8955476" y="31393"/>
            <a:ext cx="314803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Guide: 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Mr.Ch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. 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Vijayananda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Ratnam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Batch ID: C07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23BQ1A61B0 (TL), 23BQ1A61B3,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23BQ1A61F5, 24BQ5A6141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endParaRPr lang="en-IN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86" y="92353"/>
            <a:ext cx="993618" cy="69346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0EC79EE-C1C4-E275-0987-67B7B3A60CCB}"/>
              </a:ext>
            </a:extLst>
          </p:cNvPr>
          <p:cNvSpPr txBox="1"/>
          <p:nvPr/>
        </p:nvSpPr>
        <p:spPr>
          <a:xfrm>
            <a:off x="1531467" y="82617"/>
            <a:ext cx="742401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Federated Skin Disease Classification under Non-IID Data Using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Model-Contrastive Learning 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Footer Placeholder 11">
            <a:extLst>
              <a:ext uri="{FF2B5EF4-FFF2-40B4-BE49-F238E27FC236}">
                <a16:creationId xmlns:a16="http://schemas.microsoft.com/office/drawing/2014/main" id="{D814EF05-CC25-9D43-57B5-90EDB1ED1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99271" y="6460922"/>
            <a:ext cx="4114800" cy="365125"/>
          </a:xfrm>
        </p:spPr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Dept. CSM @ VVIT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13CE1DE-D210-C7A2-61C0-FF7B6B511F8A}"/>
              </a:ext>
            </a:extLst>
          </p:cNvPr>
          <p:cNvSpPr txBox="1"/>
          <p:nvPr/>
        </p:nvSpPr>
        <p:spPr>
          <a:xfrm flipH="1">
            <a:off x="135928" y="1326501"/>
            <a:ext cx="119201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 Proposed Method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Data &amp; Setup | </a:t>
            </a:r>
            <a:r>
              <a:rPr lang="en-IN" sz="14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Results | Strengths &amp; Limitations | Relevance to my research |</a:t>
            </a:r>
          </a:p>
        </p:txBody>
      </p:sp>
      <p:sp>
        <p:nvSpPr>
          <p:cNvPr id="6" name="Rectangle 5"/>
          <p:cNvSpPr/>
          <p:nvPr/>
        </p:nvSpPr>
        <p:spPr>
          <a:xfrm>
            <a:off x="2082799" y="862390"/>
            <a:ext cx="1002070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/>
              <a:t>Ref 01 – </a:t>
            </a:r>
            <a:r>
              <a:rPr lang="en-IN" sz="1400" b="1" dirty="0"/>
              <a:t>Federated Learning for Medical Image Analysis: A Survey</a:t>
            </a:r>
            <a:br>
              <a:rPr lang="en-US" sz="1400" dirty="0"/>
            </a:br>
            <a:r>
              <a:rPr lang="en-US" sz="1400" i="1" dirty="0"/>
              <a:t>Author et al., 2024 | IEEE Transactions on Medical Imaging</a:t>
            </a:r>
            <a:endParaRPr lang="en-IN" sz="1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AAFC33-A199-C678-9DF5-2077F0CF27F9}"/>
              </a:ext>
            </a:extLst>
          </p:cNvPr>
          <p:cNvSpPr txBox="1"/>
          <p:nvPr/>
        </p:nvSpPr>
        <p:spPr>
          <a:xfrm>
            <a:off x="498987" y="1643683"/>
            <a:ext cx="7908523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b="1" dirty="0"/>
              <a:t>Data &amp; Setup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b="1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Data:</a:t>
            </a:r>
            <a:r>
              <a:rPr lang="en-IN" dirty="0"/>
              <a:t> Medical imaging datasets from multiple institutions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Data distribution:</a:t>
            </a:r>
            <a:r>
              <a:rPr lang="en-IN" dirty="0"/>
              <a:t> </a:t>
            </a:r>
            <a:r>
              <a:rPr lang="en-IN" b="1" dirty="0"/>
              <a:t>IID and Non-IID</a:t>
            </a:r>
            <a:r>
              <a:rPr lang="en-IN" dirty="0"/>
              <a:t> settings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FL setup:</a:t>
            </a:r>
            <a:r>
              <a:rPr lang="en-IN" dirty="0"/>
              <a:t> Multiple medical institutions act as </a:t>
            </a:r>
            <a:r>
              <a:rPr lang="en-IN" b="1" dirty="0"/>
              <a:t>clients</a:t>
            </a:r>
            <a:r>
              <a:rPr lang="en-IN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Local training:</a:t>
            </a:r>
            <a:r>
              <a:rPr lang="en-IN" dirty="0"/>
              <a:t> Each client trains using its </a:t>
            </a:r>
            <a:r>
              <a:rPr lang="en-IN" b="1" dirty="0"/>
              <a:t>private local data</a:t>
            </a:r>
            <a:r>
              <a:rPr lang="en-IN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Communication:</a:t>
            </a:r>
            <a:r>
              <a:rPr lang="en-IN" dirty="0"/>
              <a:t> Clients send </a:t>
            </a:r>
            <a:r>
              <a:rPr lang="en-IN" b="1" dirty="0"/>
              <a:t>model updates</a:t>
            </a:r>
            <a:r>
              <a:rPr lang="en-IN" dirty="0"/>
              <a:t> to a central server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Aggregation:</a:t>
            </a:r>
            <a:r>
              <a:rPr lang="en-IN" dirty="0"/>
              <a:t> Server combines updates to form a </a:t>
            </a:r>
            <a:r>
              <a:rPr lang="en-IN" b="1" dirty="0"/>
              <a:t>global model</a:t>
            </a:r>
            <a:r>
              <a:rPr lang="en-IN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Covers applications across </a:t>
            </a:r>
            <a:r>
              <a:rPr lang="en-IN" b="1" dirty="0"/>
              <a:t>different medical imaging modalities</a:t>
            </a:r>
            <a:r>
              <a:rPr lang="en-IN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Discusses datasets, FL methods and challenges in </a:t>
            </a:r>
            <a:r>
              <a:rPr lang="en-IN" b="1" dirty="0"/>
              <a:t>medical image analysis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819104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A7E60D7-07A0-BF33-3E66-E2F8C99B0E41}"/>
              </a:ext>
            </a:extLst>
          </p:cNvPr>
          <p:cNvSpPr/>
          <p:nvPr/>
        </p:nvSpPr>
        <p:spPr>
          <a:xfrm>
            <a:off x="-1" y="6980"/>
            <a:ext cx="12192000" cy="837398"/>
          </a:xfrm>
          <a:prstGeom prst="rect">
            <a:avLst/>
          </a:prstGeom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3598CB1-43FE-F616-74FA-6AEE59FA6BF1}"/>
              </a:ext>
            </a:extLst>
          </p:cNvPr>
          <p:cNvSpPr/>
          <p:nvPr/>
        </p:nvSpPr>
        <p:spPr>
          <a:xfrm>
            <a:off x="0" y="6451517"/>
            <a:ext cx="12192000" cy="393289"/>
          </a:xfrm>
          <a:prstGeom prst="rect">
            <a:avLst/>
          </a:prstGeom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87C7729E-193F-258C-8EF4-20F3CCBF18C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460922"/>
            <a:ext cx="997974" cy="365125"/>
          </a:xfrm>
        </p:spPr>
        <p:txBody>
          <a:bodyPr/>
          <a:lstStyle/>
          <a:p>
            <a:fld id="{C72AAC90-D07C-417D-96C6-81B39DB87062}" type="datetime1">
              <a:rPr lang="en-IN" smtClean="0">
                <a:solidFill>
                  <a:schemeClr val="tx1"/>
                </a:solidFill>
              </a:rPr>
              <a:t>17-09-2026</a:t>
            </a:fld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C4BF904-2B4D-1986-6D4C-27CBD9A5E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27443" y="6478792"/>
            <a:ext cx="876067" cy="379208"/>
          </a:xfrm>
        </p:spPr>
        <p:txBody>
          <a:bodyPr/>
          <a:lstStyle/>
          <a:p>
            <a:fld id="{0F06A4E2-163B-4ABA-8562-AD05AC3F17C5}" type="slidenum">
              <a:rPr lang="en-IN" sz="1800" smtClean="0">
                <a:solidFill>
                  <a:schemeClr val="tx1"/>
                </a:solidFill>
              </a:rPr>
              <a:t>5</a:t>
            </a:fld>
            <a:endParaRPr lang="en-IN" sz="1800" dirty="0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13CE1DE-D210-C7A2-61C0-FF7B6B511F8A}"/>
              </a:ext>
            </a:extLst>
          </p:cNvPr>
          <p:cNvSpPr txBox="1"/>
          <p:nvPr/>
        </p:nvSpPr>
        <p:spPr>
          <a:xfrm flipH="1">
            <a:off x="135928" y="877163"/>
            <a:ext cx="20638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0EC79EE-C1C4-E275-0987-67B7B3A60CCB}"/>
              </a:ext>
            </a:extLst>
          </p:cNvPr>
          <p:cNvSpPr txBox="1"/>
          <p:nvPr/>
        </p:nvSpPr>
        <p:spPr>
          <a:xfrm>
            <a:off x="8955476" y="31393"/>
            <a:ext cx="314803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Guide: 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Mr.Ch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. 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Vijayananda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Ratnam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Batch ID: C07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23BQ1A61B0 (TL), 23BQ1A61B3,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23BQ1A61F5, 24BQ5A6141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endParaRPr lang="en-IN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86" y="92353"/>
            <a:ext cx="993618" cy="69346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0EC79EE-C1C4-E275-0987-67B7B3A60CCB}"/>
              </a:ext>
            </a:extLst>
          </p:cNvPr>
          <p:cNvSpPr txBox="1"/>
          <p:nvPr/>
        </p:nvSpPr>
        <p:spPr>
          <a:xfrm>
            <a:off x="1531467" y="82617"/>
            <a:ext cx="742401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Federated Skin Disease Classification under Non-IID Data Using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Model-Contrastive Learning 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Footer Placeholder 11">
            <a:extLst>
              <a:ext uri="{FF2B5EF4-FFF2-40B4-BE49-F238E27FC236}">
                <a16:creationId xmlns:a16="http://schemas.microsoft.com/office/drawing/2014/main" id="{D814EF05-CC25-9D43-57B5-90EDB1ED1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99271" y="6460922"/>
            <a:ext cx="4114800" cy="365125"/>
          </a:xfrm>
        </p:spPr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Dept. CSM @ VVIT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13CE1DE-D210-C7A2-61C0-FF7B6B511F8A}"/>
              </a:ext>
            </a:extLst>
          </p:cNvPr>
          <p:cNvSpPr txBox="1"/>
          <p:nvPr/>
        </p:nvSpPr>
        <p:spPr>
          <a:xfrm flipH="1">
            <a:off x="135928" y="1326501"/>
            <a:ext cx="119201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 Proposed Method | Data &amp; Setup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key Results | </a:t>
            </a:r>
            <a:r>
              <a:rPr lang="en-IN" sz="14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Strengths &amp; Limitations | Relevance to my research |</a:t>
            </a:r>
          </a:p>
        </p:txBody>
      </p:sp>
      <p:sp>
        <p:nvSpPr>
          <p:cNvPr id="6" name="Rectangle 5"/>
          <p:cNvSpPr/>
          <p:nvPr/>
        </p:nvSpPr>
        <p:spPr>
          <a:xfrm>
            <a:off x="2082799" y="862390"/>
            <a:ext cx="1002070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/>
              <a:t>Ref 01 – </a:t>
            </a:r>
            <a:r>
              <a:rPr lang="en-IN" sz="1400" b="1" dirty="0"/>
              <a:t>Federated Learning for Medical Image Analysis: A Survey</a:t>
            </a:r>
            <a:br>
              <a:rPr lang="en-US" sz="1400" dirty="0"/>
            </a:br>
            <a:r>
              <a:rPr lang="en-US" sz="1400" i="1" dirty="0"/>
              <a:t>Author et al., 2024 | IEEE Transactions on Medical Imaging</a:t>
            </a:r>
            <a:endParaRPr lang="en-IN" sz="1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242B98C-DBD1-14BA-4B1A-AF0889E368DE}"/>
              </a:ext>
            </a:extLst>
          </p:cNvPr>
          <p:cNvSpPr txBox="1"/>
          <p:nvPr/>
        </p:nvSpPr>
        <p:spPr>
          <a:xfrm>
            <a:off x="498987" y="1741384"/>
            <a:ext cx="10147242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b="1" dirty="0"/>
              <a:t>Key Results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FL enables </a:t>
            </a:r>
            <a:r>
              <a:rPr lang="en-IN" b="1" dirty="0"/>
              <a:t>collaborative medical image analysis</a:t>
            </a:r>
            <a:r>
              <a:rPr lang="en-IN" dirty="0"/>
              <a:t> without sharing raw patient data.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Non-IID data</a:t>
            </a:r>
            <a:r>
              <a:rPr lang="en-IN" dirty="0"/>
              <a:t> is identified as a major challenge affecting FL performance.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Client data heterogeneity can cause </a:t>
            </a:r>
            <a:r>
              <a:rPr lang="en-IN" b="1" dirty="0"/>
              <a:t>model divergence and reduced performance</a:t>
            </a:r>
            <a:r>
              <a:rPr lang="en-IN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Existing FL methods are reviewed for handling </a:t>
            </a:r>
            <a:r>
              <a:rPr lang="en-IN" b="1" dirty="0"/>
              <a:t>data heterogeneity and privacy</a:t>
            </a:r>
            <a:r>
              <a:rPr lang="en-IN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The survey highlights the need for </a:t>
            </a:r>
            <a:r>
              <a:rPr lang="en-IN" b="1" dirty="0"/>
              <a:t>more robust FL methods</a:t>
            </a:r>
            <a:r>
              <a:rPr lang="en-IN" dirty="0"/>
              <a:t> for real-world medical imaging.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Identifies </a:t>
            </a:r>
            <a:r>
              <a:rPr lang="en-IN" b="1" dirty="0"/>
              <a:t>Non-IID learning, privacy, communication efficiency and scalability</a:t>
            </a:r>
            <a:r>
              <a:rPr lang="en-IN" dirty="0"/>
              <a:t> as important research directions.</a:t>
            </a:r>
          </a:p>
        </p:txBody>
      </p:sp>
    </p:spTree>
    <p:extLst>
      <p:ext uri="{BB962C8B-B14F-4D97-AF65-F5344CB8AC3E}">
        <p14:creationId xmlns:p14="http://schemas.microsoft.com/office/powerpoint/2010/main" val="31677514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A7E60D7-07A0-BF33-3E66-E2F8C99B0E41}"/>
              </a:ext>
            </a:extLst>
          </p:cNvPr>
          <p:cNvSpPr/>
          <p:nvPr/>
        </p:nvSpPr>
        <p:spPr>
          <a:xfrm>
            <a:off x="-1" y="6980"/>
            <a:ext cx="12192000" cy="837398"/>
          </a:xfrm>
          <a:prstGeom prst="rect">
            <a:avLst/>
          </a:prstGeom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3598CB1-43FE-F616-74FA-6AEE59FA6BF1}"/>
              </a:ext>
            </a:extLst>
          </p:cNvPr>
          <p:cNvSpPr/>
          <p:nvPr/>
        </p:nvSpPr>
        <p:spPr>
          <a:xfrm>
            <a:off x="0" y="6451517"/>
            <a:ext cx="12192000" cy="393289"/>
          </a:xfrm>
          <a:prstGeom prst="rect">
            <a:avLst/>
          </a:prstGeom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87C7729E-193F-258C-8EF4-20F3CCBF18C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460922"/>
            <a:ext cx="997974" cy="365125"/>
          </a:xfrm>
        </p:spPr>
        <p:txBody>
          <a:bodyPr/>
          <a:lstStyle/>
          <a:p>
            <a:fld id="{C72AAC90-D07C-417D-96C6-81B39DB87062}" type="datetime1">
              <a:rPr lang="en-IN" smtClean="0">
                <a:solidFill>
                  <a:schemeClr val="tx1"/>
                </a:solidFill>
              </a:rPr>
              <a:t>17-09-2026</a:t>
            </a:fld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C4BF904-2B4D-1986-6D4C-27CBD9A5E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27443" y="6478792"/>
            <a:ext cx="876067" cy="379208"/>
          </a:xfrm>
        </p:spPr>
        <p:txBody>
          <a:bodyPr/>
          <a:lstStyle/>
          <a:p>
            <a:fld id="{0F06A4E2-163B-4ABA-8562-AD05AC3F17C5}" type="slidenum">
              <a:rPr lang="en-IN" sz="1800" smtClean="0">
                <a:solidFill>
                  <a:schemeClr val="tx1"/>
                </a:solidFill>
              </a:rPr>
              <a:t>6</a:t>
            </a:fld>
            <a:endParaRPr lang="en-IN" sz="1800" dirty="0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13CE1DE-D210-C7A2-61C0-FF7B6B511F8A}"/>
              </a:ext>
            </a:extLst>
          </p:cNvPr>
          <p:cNvSpPr txBox="1"/>
          <p:nvPr/>
        </p:nvSpPr>
        <p:spPr>
          <a:xfrm flipH="1">
            <a:off x="135928" y="877163"/>
            <a:ext cx="20638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0EC79EE-C1C4-E275-0987-67B7B3A60CCB}"/>
              </a:ext>
            </a:extLst>
          </p:cNvPr>
          <p:cNvSpPr txBox="1"/>
          <p:nvPr/>
        </p:nvSpPr>
        <p:spPr>
          <a:xfrm>
            <a:off x="8955476" y="31393"/>
            <a:ext cx="314803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Guide: 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Mr.Ch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. 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Vijayananda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Ratnam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Batch ID: C07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23BQ1A61B0 (TL), 23BQ1A61B3,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23BQ1A61F5, 24BQ5A6141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endParaRPr lang="en-IN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86" y="92353"/>
            <a:ext cx="993618" cy="69346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0EC79EE-C1C4-E275-0987-67B7B3A60CCB}"/>
              </a:ext>
            </a:extLst>
          </p:cNvPr>
          <p:cNvSpPr txBox="1"/>
          <p:nvPr/>
        </p:nvSpPr>
        <p:spPr>
          <a:xfrm>
            <a:off x="1531467" y="82617"/>
            <a:ext cx="742401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Federated Skin Disease Classification under Non-IID Data Using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Model-Contrastive Learning 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Footer Placeholder 11">
            <a:extLst>
              <a:ext uri="{FF2B5EF4-FFF2-40B4-BE49-F238E27FC236}">
                <a16:creationId xmlns:a16="http://schemas.microsoft.com/office/drawing/2014/main" id="{D814EF05-CC25-9D43-57B5-90EDB1ED1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99271" y="6460922"/>
            <a:ext cx="4114800" cy="365125"/>
          </a:xfrm>
        </p:spPr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Dept. CSM @ VVIT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13CE1DE-D210-C7A2-61C0-FF7B6B511F8A}"/>
              </a:ext>
            </a:extLst>
          </p:cNvPr>
          <p:cNvSpPr txBox="1"/>
          <p:nvPr/>
        </p:nvSpPr>
        <p:spPr>
          <a:xfrm flipH="1">
            <a:off x="135928" y="1326501"/>
            <a:ext cx="119201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 Proposed Method | Data &amp; Setup | key Results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Strengths &amp; Limitations | </a:t>
            </a:r>
            <a:r>
              <a:rPr lang="en-IN" sz="14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Relevance to my research |</a:t>
            </a:r>
          </a:p>
        </p:txBody>
      </p:sp>
      <p:sp>
        <p:nvSpPr>
          <p:cNvPr id="6" name="Rectangle 5"/>
          <p:cNvSpPr/>
          <p:nvPr/>
        </p:nvSpPr>
        <p:spPr>
          <a:xfrm>
            <a:off x="2082799" y="862390"/>
            <a:ext cx="1002070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/>
              <a:t>Ref 01 – </a:t>
            </a:r>
            <a:r>
              <a:rPr lang="en-IN" sz="1400" b="1" dirty="0"/>
              <a:t>Federated Learning for Medical Image Analysis: A Survey</a:t>
            </a:r>
            <a:br>
              <a:rPr lang="en-US" sz="1400" dirty="0"/>
            </a:br>
            <a:r>
              <a:rPr lang="en-US" sz="1400" i="1" dirty="0"/>
              <a:t>Author et al., 2024 | IEEE Transactions on Medical Imaging</a:t>
            </a:r>
            <a:endParaRPr lang="en-IN" sz="1400" dirty="0"/>
          </a:p>
        </p:txBody>
      </p:sp>
      <p:sp>
        <p:nvSpPr>
          <p:cNvPr id="7" name="Rounded Rectangle 6"/>
          <p:cNvSpPr/>
          <p:nvPr/>
        </p:nvSpPr>
        <p:spPr>
          <a:xfrm>
            <a:off x="264160" y="2194560"/>
            <a:ext cx="5699760" cy="3749040"/>
          </a:xfrm>
          <a:prstGeom prst="roundRect">
            <a:avLst>
              <a:gd name="adj" fmla="val 3659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Provides a broad overview of </a:t>
            </a:r>
            <a:r>
              <a:rPr lang="en-IN" b="1" dirty="0">
                <a:solidFill>
                  <a:schemeClr val="tx1"/>
                </a:solidFill>
              </a:rPr>
              <a:t>FL in medical image analysis</a:t>
            </a:r>
            <a:r>
              <a:rPr lang="en-IN" dirty="0">
                <a:solidFill>
                  <a:schemeClr val="tx1"/>
                </a:solidFill>
              </a:rPr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Covers </a:t>
            </a:r>
            <a:r>
              <a:rPr lang="en-IN" b="1" dirty="0">
                <a:solidFill>
                  <a:schemeClr val="tx1"/>
                </a:solidFill>
              </a:rPr>
              <a:t>privacy, security and data-sharing challenges</a:t>
            </a:r>
            <a:r>
              <a:rPr lang="en-IN" dirty="0">
                <a:solidFill>
                  <a:schemeClr val="tx1"/>
                </a:solidFill>
              </a:rPr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Discusses </a:t>
            </a:r>
            <a:r>
              <a:rPr lang="en-IN" b="1" dirty="0">
                <a:solidFill>
                  <a:schemeClr val="tx1"/>
                </a:solidFill>
              </a:rPr>
              <a:t>IID and Non-IID</a:t>
            </a:r>
            <a:r>
              <a:rPr lang="en-IN" dirty="0">
                <a:solidFill>
                  <a:schemeClr val="tx1"/>
                </a:solidFill>
              </a:rPr>
              <a:t> data settings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Reviews different </a:t>
            </a:r>
            <a:r>
              <a:rPr lang="en-IN" b="1" dirty="0">
                <a:solidFill>
                  <a:schemeClr val="tx1"/>
                </a:solidFill>
              </a:rPr>
              <a:t>FL methods, datasets and applications</a:t>
            </a:r>
            <a:r>
              <a:rPr lang="en-IN" dirty="0">
                <a:solidFill>
                  <a:schemeClr val="tx1"/>
                </a:solidFill>
              </a:rPr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Identifies important </a:t>
            </a:r>
            <a:r>
              <a:rPr lang="en-IN" b="1" dirty="0">
                <a:solidFill>
                  <a:schemeClr val="tx1"/>
                </a:solidFill>
              </a:rPr>
              <a:t>research challenges and future directions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146800" y="2194560"/>
            <a:ext cx="5699760" cy="3749040"/>
          </a:xfrm>
          <a:prstGeom prst="roundRect">
            <a:avLst>
              <a:gd name="adj" fmla="val 3659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It is a </a:t>
            </a:r>
            <a:r>
              <a:rPr lang="en-IN" b="1" dirty="0">
                <a:solidFill>
                  <a:schemeClr val="tx1"/>
                </a:solidFill>
              </a:rPr>
              <a:t>survey</a:t>
            </a:r>
            <a:r>
              <a:rPr lang="en-IN" dirty="0">
                <a:solidFill>
                  <a:schemeClr val="tx1"/>
                </a:solidFill>
              </a:rPr>
              <a:t>, not a new experimental FL model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Does not propose a specific solution for </a:t>
            </a:r>
            <a:r>
              <a:rPr lang="en-IN" b="1" dirty="0">
                <a:solidFill>
                  <a:schemeClr val="tx1"/>
                </a:solidFill>
              </a:rPr>
              <a:t>skin disease classification</a:t>
            </a:r>
            <a:r>
              <a:rPr lang="en-IN" dirty="0">
                <a:solidFill>
                  <a:schemeClr val="tx1"/>
                </a:solidFill>
              </a:rPr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Does not provide a single experimental setup for direct comparison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tx1"/>
                </a:solidFill>
              </a:rPr>
              <a:t>Non-IID data</a:t>
            </a:r>
            <a:r>
              <a:rPr lang="en-IN" dirty="0">
                <a:solidFill>
                  <a:schemeClr val="tx1"/>
                </a:solidFill>
              </a:rPr>
              <a:t> remains an open challenge highlighted by the survey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Practical issues such as </a:t>
            </a:r>
            <a:r>
              <a:rPr lang="en-IN" b="1" dirty="0">
                <a:solidFill>
                  <a:schemeClr val="tx1"/>
                </a:solidFill>
              </a:rPr>
              <a:t>communication and scalability</a:t>
            </a:r>
            <a:r>
              <a:rPr lang="en-IN" dirty="0">
                <a:solidFill>
                  <a:schemeClr val="tx1"/>
                </a:solidFill>
              </a:rPr>
              <a:t> require further research</a:t>
            </a:r>
          </a:p>
        </p:txBody>
      </p:sp>
      <p:sp>
        <p:nvSpPr>
          <p:cNvPr id="8" name="Rectangle 7"/>
          <p:cNvSpPr/>
          <p:nvPr/>
        </p:nvSpPr>
        <p:spPr>
          <a:xfrm>
            <a:off x="6259202" y="2148841"/>
            <a:ext cx="5441307" cy="45719"/>
          </a:xfrm>
          <a:prstGeom prst="rect">
            <a:avLst/>
          </a:prstGeom>
          <a:solidFill>
            <a:srgbClr val="EC7E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/>
          <p:cNvSpPr/>
          <p:nvPr/>
        </p:nvSpPr>
        <p:spPr>
          <a:xfrm>
            <a:off x="393386" y="2148841"/>
            <a:ext cx="5441307" cy="45719"/>
          </a:xfrm>
          <a:prstGeom prst="rect">
            <a:avLst/>
          </a:prstGeom>
          <a:solidFill>
            <a:srgbClr val="EC7E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/>
          <p:cNvSpPr txBox="1"/>
          <p:nvPr/>
        </p:nvSpPr>
        <p:spPr>
          <a:xfrm>
            <a:off x="393386" y="1799012"/>
            <a:ext cx="10758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Strengths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59202" y="1779509"/>
            <a:ext cx="12490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</a:p>
        </p:txBody>
      </p:sp>
    </p:spTree>
    <p:extLst>
      <p:ext uri="{BB962C8B-B14F-4D97-AF65-F5344CB8AC3E}">
        <p14:creationId xmlns:p14="http://schemas.microsoft.com/office/powerpoint/2010/main" val="17538899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A7E60D7-07A0-BF33-3E66-E2F8C99B0E41}"/>
              </a:ext>
            </a:extLst>
          </p:cNvPr>
          <p:cNvSpPr/>
          <p:nvPr/>
        </p:nvSpPr>
        <p:spPr>
          <a:xfrm>
            <a:off x="-1" y="6980"/>
            <a:ext cx="12192000" cy="837398"/>
          </a:xfrm>
          <a:prstGeom prst="rect">
            <a:avLst/>
          </a:prstGeom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3598CB1-43FE-F616-74FA-6AEE59FA6BF1}"/>
              </a:ext>
            </a:extLst>
          </p:cNvPr>
          <p:cNvSpPr/>
          <p:nvPr/>
        </p:nvSpPr>
        <p:spPr>
          <a:xfrm>
            <a:off x="0" y="6451517"/>
            <a:ext cx="12192000" cy="393289"/>
          </a:xfrm>
          <a:prstGeom prst="rect">
            <a:avLst/>
          </a:prstGeom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87C7729E-193F-258C-8EF4-20F3CCBF18C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460922"/>
            <a:ext cx="997974" cy="365125"/>
          </a:xfrm>
        </p:spPr>
        <p:txBody>
          <a:bodyPr/>
          <a:lstStyle/>
          <a:p>
            <a:fld id="{C72AAC90-D07C-417D-96C6-81B39DB87062}" type="datetime1">
              <a:rPr lang="en-IN" smtClean="0">
                <a:solidFill>
                  <a:schemeClr val="tx1"/>
                </a:solidFill>
              </a:rPr>
              <a:t>17-09-2026</a:t>
            </a:fld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C4BF904-2B4D-1986-6D4C-27CBD9A5E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27443" y="6478792"/>
            <a:ext cx="876067" cy="379208"/>
          </a:xfrm>
        </p:spPr>
        <p:txBody>
          <a:bodyPr/>
          <a:lstStyle/>
          <a:p>
            <a:fld id="{0F06A4E2-163B-4ABA-8562-AD05AC3F17C5}" type="slidenum">
              <a:rPr lang="en-IN" sz="1800" smtClean="0">
                <a:solidFill>
                  <a:schemeClr val="tx1"/>
                </a:solidFill>
              </a:rPr>
              <a:t>7</a:t>
            </a:fld>
            <a:endParaRPr lang="en-IN" sz="1800" dirty="0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13CE1DE-D210-C7A2-61C0-FF7B6B511F8A}"/>
              </a:ext>
            </a:extLst>
          </p:cNvPr>
          <p:cNvSpPr txBox="1"/>
          <p:nvPr/>
        </p:nvSpPr>
        <p:spPr>
          <a:xfrm flipH="1">
            <a:off x="135928" y="877163"/>
            <a:ext cx="20638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0EC79EE-C1C4-E275-0987-67B7B3A60CCB}"/>
              </a:ext>
            </a:extLst>
          </p:cNvPr>
          <p:cNvSpPr txBox="1"/>
          <p:nvPr/>
        </p:nvSpPr>
        <p:spPr>
          <a:xfrm>
            <a:off x="8955476" y="31393"/>
            <a:ext cx="314803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Guide: 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Mr.Ch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. 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Vijayananda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Ratnam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Batch ID: C07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23BQ1A61B0 (TL), 23BQ1A61B3,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23BQ1A61F5, 24BQ5A6141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endParaRPr lang="en-IN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86" y="92353"/>
            <a:ext cx="993618" cy="69346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0EC79EE-C1C4-E275-0987-67B7B3A60CCB}"/>
              </a:ext>
            </a:extLst>
          </p:cNvPr>
          <p:cNvSpPr txBox="1"/>
          <p:nvPr/>
        </p:nvSpPr>
        <p:spPr>
          <a:xfrm>
            <a:off x="1531467" y="82617"/>
            <a:ext cx="742401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Federated Skin Disease Classification under Non-IID Data Using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Model-Contrastive Learning 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Footer Placeholder 11">
            <a:extLst>
              <a:ext uri="{FF2B5EF4-FFF2-40B4-BE49-F238E27FC236}">
                <a16:creationId xmlns:a16="http://schemas.microsoft.com/office/drawing/2014/main" id="{D814EF05-CC25-9D43-57B5-90EDB1ED1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99271" y="6460922"/>
            <a:ext cx="4114800" cy="365125"/>
          </a:xfrm>
        </p:spPr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Dept. CSM @ VVIT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13CE1DE-D210-C7A2-61C0-FF7B6B511F8A}"/>
              </a:ext>
            </a:extLst>
          </p:cNvPr>
          <p:cNvSpPr txBox="1"/>
          <p:nvPr/>
        </p:nvSpPr>
        <p:spPr>
          <a:xfrm flipH="1">
            <a:off x="135928" y="1326501"/>
            <a:ext cx="119201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 Proposed Method | Data &amp; Setup | key Results | Strengths &amp; Limitations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Relevance to my research |</a:t>
            </a:r>
          </a:p>
        </p:txBody>
      </p:sp>
      <p:sp>
        <p:nvSpPr>
          <p:cNvPr id="6" name="Rectangle 5"/>
          <p:cNvSpPr/>
          <p:nvPr/>
        </p:nvSpPr>
        <p:spPr>
          <a:xfrm>
            <a:off x="2082799" y="862390"/>
            <a:ext cx="1002070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/>
              <a:t>Ref 01 – </a:t>
            </a:r>
            <a:r>
              <a:rPr lang="en-IN" sz="1400" b="1" dirty="0"/>
              <a:t>Federated Learning for Medical Image Analysis: A Survey</a:t>
            </a:r>
            <a:br>
              <a:rPr lang="en-US" sz="1400" dirty="0"/>
            </a:br>
            <a:r>
              <a:rPr lang="en-US" sz="1400" i="1" dirty="0"/>
              <a:t>Author et al., 2024 | IEEE Transactions on Medical Imaging</a:t>
            </a:r>
            <a:endParaRPr lang="en-IN" sz="1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1153805-318B-8A9F-FD71-93C7B1BC50E2}"/>
              </a:ext>
            </a:extLst>
          </p:cNvPr>
          <p:cNvSpPr txBox="1"/>
          <p:nvPr/>
        </p:nvSpPr>
        <p:spPr>
          <a:xfrm>
            <a:off x="498987" y="1660240"/>
            <a:ext cx="989531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b="1" dirty="0"/>
              <a:t>Relevance to My Research</a:t>
            </a:r>
          </a:p>
          <a:p>
            <a:pPr lvl="0"/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Establishes </a:t>
            </a:r>
            <a:r>
              <a:rPr lang="en-IN" b="1" dirty="0"/>
              <a:t>Federated Learning</a:t>
            </a:r>
            <a:r>
              <a:rPr lang="en-IN" dirty="0"/>
              <a:t> as a suitable approach for privacy-sensitive medical imaging.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Highlights </a:t>
            </a:r>
            <a:r>
              <a:rPr lang="en-IN" b="1" dirty="0"/>
              <a:t>Non-IID data</a:t>
            </a:r>
            <a:r>
              <a:rPr lang="en-IN" dirty="0"/>
              <a:t> as a key challenge in medical FL.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Motivates methods that can reduce </a:t>
            </a:r>
            <a:r>
              <a:rPr lang="en-IN" b="1" dirty="0"/>
              <a:t>client divergence and performance degradation</a:t>
            </a:r>
            <a:r>
              <a:rPr lang="en-IN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Provides background on existing </a:t>
            </a:r>
            <a:r>
              <a:rPr lang="en-IN" b="1" dirty="0"/>
              <a:t>FL methods and medical imaging applications</a:t>
            </a:r>
            <a:r>
              <a:rPr lang="en-IN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Supports our focus on </a:t>
            </a:r>
            <a:r>
              <a:rPr lang="en-IN" b="1" dirty="0"/>
              <a:t>privacy-preserving skin disease classification</a:t>
            </a:r>
            <a:r>
              <a:rPr lang="en-IN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Our work specifically investigates </a:t>
            </a:r>
            <a:r>
              <a:rPr lang="en-IN" b="1" dirty="0"/>
              <a:t>Model-Contrastive Learning</a:t>
            </a:r>
            <a:r>
              <a:rPr lang="en-IN" dirty="0"/>
              <a:t> to address Non-IID client drift.</a:t>
            </a:r>
          </a:p>
        </p:txBody>
      </p:sp>
    </p:spTree>
    <p:extLst>
      <p:ext uri="{BB962C8B-B14F-4D97-AF65-F5344CB8AC3E}">
        <p14:creationId xmlns:p14="http://schemas.microsoft.com/office/powerpoint/2010/main" val="166021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A7E60D7-07A0-BF33-3E66-E2F8C99B0E41}"/>
              </a:ext>
            </a:extLst>
          </p:cNvPr>
          <p:cNvSpPr/>
          <p:nvPr/>
        </p:nvSpPr>
        <p:spPr>
          <a:xfrm>
            <a:off x="-1" y="6980"/>
            <a:ext cx="12192000" cy="837398"/>
          </a:xfrm>
          <a:prstGeom prst="rect">
            <a:avLst/>
          </a:prstGeom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3598CB1-43FE-F616-74FA-6AEE59FA6BF1}"/>
              </a:ext>
            </a:extLst>
          </p:cNvPr>
          <p:cNvSpPr/>
          <p:nvPr/>
        </p:nvSpPr>
        <p:spPr>
          <a:xfrm>
            <a:off x="0" y="6451517"/>
            <a:ext cx="12192000" cy="393289"/>
          </a:xfrm>
          <a:prstGeom prst="rect">
            <a:avLst/>
          </a:prstGeom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87C7729E-193F-258C-8EF4-20F3CCBF18C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460922"/>
            <a:ext cx="997974" cy="365125"/>
          </a:xfrm>
        </p:spPr>
        <p:txBody>
          <a:bodyPr/>
          <a:lstStyle/>
          <a:p>
            <a:fld id="{C72AAC90-D07C-417D-96C6-81B39DB87062}" type="datetime1">
              <a:rPr lang="en-IN" smtClean="0">
                <a:solidFill>
                  <a:schemeClr val="tx1"/>
                </a:solidFill>
              </a:rPr>
              <a:t>17-09-2026</a:t>
            </a:fld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C4BF904-2B4D-1986-6D4C-27CBD9A5E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27443" y="6478792"/>
            <a:ext cx="876067" cy="379208"/>
          </a:xfrm>
        </p:spPr>
        <p:txBody>
          <a:bodyPr/>
          <a:lstStyle/>
          <a:p>
            <a:fld id="{0F06A4E2-163B-4ABA-8562-AD05AC3F17C5}" type="slidenum">
              <a:rPr lang="en-IN" sz="1800" smtClean="0">
                <a:solidFill>
                  <a:schemeClr val="tx1"/>
                </a:solidFill>
              </a:rPr>
              <a:t>8</a:t>
            </a:fld>
            <a:endParaRPr lang="en-IN" sz="1800" dirty="0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13CE1DE-D210-C7A2-61C0-FF7B6B511F8A}"/>
              </a:ext>
            </a:extLst>
          </p:cNvPr>
          <p:cNvSpPr txBox="1"/>
          <p:nvPr/>
        </p:nvSpPr>
        <p:spPr>
          <a:xfrm flipH="1">
            <a:off x="135928" y="877163"/>
            <a:ext cx="20638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0EC79EE-C1C4-E275-0987-67B7B3A60CCB}"/>
              </a:ext>
            </a:extLst>
          </p:cNvPr>
          <p:cNvSpPr txBox="1"/>
          <p:nvPr/>
        </p:nvSpPr>
        <p:spPr>
          <a:xfrm>
            <a:off x="8955476" y="31393"/>
            <a:ext cx="314803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Guide: 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Mr.Ch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. 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Vijayananda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Ratnam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Batch ID: C07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23BQ1A61B0 (TL), 23BQ1A61B3,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23BQ1A61F5, 24BQ5A6141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endParaRPr lang="en-IN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86" y="92353"/>
            <a:ext cx="993618" cy="69346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0EC79EE-C1C4-E275-0987-67B7B3A60CCB}"/>
              </a:ext>
            </a:extLst>
          </p:cNvPr>
          <p:cNvSpPr txBox="1"/>
          <p:nvPr/>
        </p:nvSpPr>
        <p:spPr>
          <a:xfrm>
            <a:off x="1531467" y="82617"/>
            <a:ext cx="742401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Federated Skin Disease Classification under Non-IID Data Using 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Model-Contrastive Learning 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Footer Placeholder 11">
            <a:extLst>
              <a:ext uri="{FF2B5EF4-FFF2-40B4-BE49-F238E27FC236}">
                <a16:creationId xmlns:a16="http://schemas.microsoft.com/office/drawing/2014/main" id="{D814EF05-CC25-9D43-57B5-90EDB1ED1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99271" y="6460922"/>
            <a:ext cx="4114800" cy="365125"/>
          </a:xfrm>
        </p:spPr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Dept. CSM @ VVIT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13CE1DE-D210-C7A2-61C0-FF7B6B511F8A}"/>
              </a:ext>
            </a:extLst>
          </p:cNvPr>
          <p:cNvSpPr txBox="1"/>
          <p:nvPr/>
        </p:nvSpPr>
        <p:spPr>
          <a:xfrm flipH="1">
            <a:off x="135928" y="1326501"/>
            <a:ext cx="119201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Proposed Method | </a:t>
            </a:r>
            <a:r>
              <a:rPr lang="en-IN" sz="14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&amp; Setup | key Results | Strengths &amp; Limitations | Relevance to my research |</a:t>
            </a:r>
          </a:p>
        </p:txBody>
      </p:sp>
      <p:sp>
        <p:nvSpPr>
          <p:cNvPr id="6" name="Rectangle 5"/>
          <p:cNvSpPr/>
          <p:nvPr/>
        </p:nvSpPr>
        <p:spPr>
          <a:xfrm>
            <a:off x="2082799" y="862390"/>
            <a:ext cx="1002070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/>
              <a:t>Ref 02 – </a:t>
            </a:r>
            <a:r>
              <a:rPr lang="en-IN" sz="1400" b="1" dirty="0"/>
              <a:t>A Privacy-Preserving Collaborative Federated Learning Framework for Detecting Retinal Diseases</a:t>
            </a:r>
            <a:br>
              <a:rPr lang="en-US" sz="1400" b="1" dirty="0"/>
            </a:br>
            <a:r>
              <a:rPr lang="en-US" sz="1400" i="1" dirty="0"/>
              <a:t>Author et al., 2024 | IEEE Transactions on Medical Imaging</a:t>
            </a:r>
            <a:endParaRPr lang="en-IN" sz="1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DF8568B-8BC6-8044-56D9-396E4F960B9B}"/>
              </a:ext>
            </a:extLst>
          </p:cNvPr>
          <p:cNvSpPr txBox="1"/>
          <p:nvPr/>
        </p:nvSpPr>
        <p:spPr>
          <a:xfrm>
            <a:off x="498987" y="1677833"/>
            <a:ext cx="9530586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Proposed Method</a:t>
            </a:r>
          </a:p>
          <a:p>
            <a:pPr>
              <a:buNone/>
            </a:pPr>
            <a:endParaRPr lang="en-IN" b="1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Privacy-preserving </a:t>
            </a:r>
            <a:r>
              <a:rPr lang="en-IN" b="1" dirty="0"/>
              <a:t>Federated Deep Learning (FDL)</a:t>
            </a:r>
            <a:r>
              <a:rPr lang="en-IN" dirty="0"/>
              <a:t> framework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Uses lightweight </a:t>
            </a:r>
            <a:r>
              <a:rPr lang="en-IN" b="1" dirty="0"/>
              <a:t>MobileNetV2</a:t>
            </a:r>
            <a:r>
              <a:rPr lang="en-IN" dirty="0"/>
              <a:t> for disease classification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Compares two aggregation methods: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b="1" dirty="0" err="1"/>
              <a:t>FedAvg</a:t>
            </a:r>
            <a:r>
              <a:rPr lang="en-IN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b="1" dirty="0" err="1"/>
              <a:t>FedProx</a:t>
            </a:r>
            <a:r>
              <a:rPr lang="en-IN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Evaluates both </a:t>
            </a:r>
            <a:r>
              <a:rPr lang="en-IN" b="1" dirty="0"/>
              <a:t>IID and Non-IID</a:t>
            </a:r>
            <a:r>
              <a:rPr lang="en-IN" dirty="0"/>
              <a:t> client data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Uses </a:t>
            </a:r>
            <a:r>
              <a:rPr lang="en-IN" b="1" dirty="0"/>
              <a:t>2-client and 3-client</a:t>
            </a:r>
            <a:r>
              <a:rPr lang="en-IN" dirty="0"/>
              <a:t> federated setups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 err="1"/>
              <a:t>FedProx</a:t>
            </a:r>
            <a:r>
              <a:rPr lang="en-IN" dirty="0"/>
              <a:t> adds a proximal term to reduce local model deviation under heterogeneous data </a:t>
            </a:r>
          </a:p>
          <a:p>
            <a:pPr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260656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A7E60D7-07A0-BF33-3E66-E2F8C99B0E41}"/>
              </a:ext>
            </a:extLst>
          </p:cNvPr>
          <p:cNvSpPr/>
          <p:nvPr/>
        </p:nvSpPr>
        <p:spPr>
          <a:xfrm>
            <a:off x="-1" y="6980"/>
            <a:ext cx="12192000" cy="837398"/>
          </a:xfrm>
          <a:prstGeom prst="rect">
            <a:avLst/>
          </a:prstGeom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3598CB1-43FE-F616-74FA-6AEE59FA6BF1}"/>
              </a:ext>
            </a:extLst>
          </p:cNvPr>
          <p:cNvSpPr/>
          <p:nvPr/>
        </p:nvSpPr>
        <p:spPr>
          <a:xfrm>
            <a:off x="0" y="6451517"/>
            <a:ext cx="12192000" cy="393289"/>
          </a:xfrm>
          <a:prstGeom prst="rect">
            <a:avLst/>
          </a:prstGeom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87C7729E-193F-258C-8EF4-20F3CCBF18C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460922"/>
            <a:ext cx="997974" cy="365125"/>
          </a:xfrm>
        </p:spPr>
        <p:txBody>
          <a:bodyPr/>
          <a:lstStyle/>
          <a:p>
            <a:fld id="{C72AAC90-D07C-417D-96C6-81B39DB87062}" type="datetime1">
              <a:rPr lang="en-IN" smtClean="0">
                <a:solidFill>
                  <a:schemeClr val="tx1"/>
                </a:solidFill>
              </a:rPr>
              <a:t>17-09-2026</a:t>
            </a:fld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C4BF904-2B4D-1986-6D4C-27CBD9A5E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27443" y="6478792"/>
            <a:ext cx="876067" cy="379208"/>
          </a:xfrm>
        </p:spPr>
        <p:txBody>
          <a:bodyPr/>
          <a:lstStyle/>
          <a:p>
            <a:fld id="{0F06A4E2-163B-4ABA-8562-AD05AC3F17C5}" type="slidenum">
              <a:rPr lang="en-IN" sz="1800" smtClean="0">
                <a:solidFill>
                  <a:schemeClr val="tx1"/>
                </a:solidFill>
              </a:rPr>
              <a:t>9</a:t>
            </a:fld>
            <a:endParaRPr lang="en-IN" sz="1800" dirty="0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13CE1DE-D210-C7A2-61C0-FF7B6B511F8A}"/>
              </a:ext>
            </a:extLst>
          </p:cNvPr>
          <p:cNvSpPr txBox="1"/>
          <p:nvPr/>
        </p:nvSpPr>
        <p:spPr>
          <a:xfrm flipH="1">
            <a:off x="135928" y="877163"/>
            <a:ext cx="20638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0EC79EE-C1C4-E275-0987-67B7B3A60CCB}"/>
              </a:ext>
            </a:extLst>
          </p:cNvPr>
          <p:cNvSpPr txBox="1"/>
          <p:nvPr/>
        </p:nvSpPr>
        <p:spPr>
          <a:xfrm>
            <a:off x="8955476" y="31393"/>
            <a:ext cx="314803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Guide: 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Mr.Ch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. 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Vijayananda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Ratnam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Batch ID: C07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23BQ1A61B0 (TL), 23BQ1A61B3,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23BQ1A61F5, 24BQ5A6141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endParaRPr lang="en-IN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86" y="92353"/>
            <a:ext cx="993618" cy="69346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0EC79EE-C1C4-E275-0987-67B7B3A60CCB}"/>
              </a:ext>
            </a:extLst>
          </p:cNvPr>
          <p:cNvSpPr txBox="1"/>
          <p:nvPr/>
        </p:nvSpPr>
        <p:spPr>
          <a:xfrm>
            <a:off x="1531467" y="82617"/>
            <a:ext cx="742401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Federated Skin Disease Classification under Non-IID Data Using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Model-Contrastive Learning 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Footer Placeholder 11">
            <a:extLst>
              <a:ext uri="{FF2B5EF4-FFF2-40B4-BE49-F238E27FC236}">
                <a16:creationId xmlns:a16="http://schemas.microsoft.com/office/drawing/2014/main" id="{D814EF05-CC25-9D43-57B5-90EDB1ED1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99271" y="6460922"/>
            <a:ext cx="4114800" cy="365125"/>
          </a:xfrm>
        </p:spPr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Dept. CSM @ VVIT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13CE1DE-D210-C7A2-61C0-FF7B6B511F8A}"/>
              </a:ext>
            </a:extLst>
          </p:cNvPr>
          <p:cNvSpPr txBox="1"/>
          <p:nvPr/>
        </p:nvSpPr>
        <p:spPr>
          <a:xfrm flipH="1">
            <a:off x="135928" y="1326501"/>
            <a:ext cx="119201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 Proposed Method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Data &amp; Setup | </a:t>
            </a:r>
            <a:r>
              <a:rPr lang="en-IN" sz="14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Results | Strengths &amp; Limitations | Relevance to my research |</a:t>
            </a:r>
          </a:p>
        </p:txBody>
      </p:sp>
      <p:sp>
        <p:nvSpPr>
          <p:cNvPr id="6" name="Rectangle 5"/>
          <p:cNvSpPr/>
          <p:nvPr/>
        </p:nvSpPr>
        <p:spPr>
          <a:xfrm>
            <a:off x="2082799" y="862390"/>
            <a:ext cx="1002070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/>
              <a:t>Ref 02 – </a:t>
            </a:r>
            <a:r>
              <a:rPr lang="en-IN" sz="1400" b="1" dirty="0"/>
              <a:t>A Privacy-Preserving Collaborative Federated Learning Framework for Detecting Retinal Diseases</a:t>
            </a:r>
            <a:br>
              <a:rPr lang="en-US" sz="1400" dirty="0"/>
            </a:br>
            <a:r>
              <a:rPr lang="en-US" sz="1400" i="1" dirty="0"/>
              <a:t>Author et al., 2024 | IEEE Transactions on Medical Imaging</a:t>
            </a:r>
            <a:endParaRPr lang="en-IN" sz="1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A790332-9C6A-6E30-B7C8-59E5C213EAFF}"/>
              </a:ext>
            </a:extLst>
          </p:cNvPr>
          <p:cNvSpPr txBox="1"/>
          <p:nvPr/>
        </p:nvSpPr>
        <p:spPr>
          <a:xfrm>
            <a:off x="498987" y="1677833"/>
            <a:ext cx="814116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b="1" dirty="0"/>
              <a:t>Data &amp; Setup</a:t>
            </a:r>
          </a:p>
          <a:p>
            <a:pPr lvl="0"/>
            <a:endParaRPr lang="en-IN" b="1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Dataset:</a:t>
            </a:r>
            <a:r>
              <a:rPr lang="en-IN" dirty="0"/>
              <a:t> Diabetic Macular </a:t>
            </a:r>
            <a:r>
              <a:rPr lang="en-IN" dirty="0" err="1"/>
              <a:t>Edema</a:t>
            </a:r>
            <a:r>
              <a:rPr lang="en-IN" dirty="0"/>
              <a:t> (DME), Diabetic Retinopathy (DR) and Normal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Training images:</a:t>
            </a:r>
            <a:r>
              <a:rPr lang="en-IN" dirty="0"/>
              <a:t> 1,827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Testing images:</a:t>
            </a:r>
            <a:r>
              <a:rPr lang="en-IN" dirty="0"/>
              <a:t> 457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Train/Test split:</a:t>
            </a:r>
            <a:r>
              <a:rPr lang="en-IN" dirty="0"/>
              <a:t> 80:20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FL setup:</a:t>
            </a:r>
            <a:r>
              <a:rPr lang="en-IN" dirty="0"/>
              <a:t> 2-client and 3-client scenarios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IID:</a:t>
            </a:r>
            <a:r>
              <a:rPr lang="en-IN" dirty="0"/>
              <a:t> Equal data distribution among clients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Non-IID:</a:t>
            </a:r>
            <a:r>
              <a:rPr lang="en-IN" dirty="0"/>
              <a:t> 40:60 (2 clients) and 30:30:35 (3 clients)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Model:</a:t>
            </a:r>
            <a:r>
              <a:rPr lang="en-IN" dirty="0"/>
              <a:t> MobileNetV2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Aggregation:</a:t>
            </a:r>
            <a:r>
              <a:rPr lang="en-IN" dirty="0"/>
              <a:t> </a:t>
            </a:r>
            <a:r>
              <a:rPr lang="en-IN" dirty="0" err="1"/>
              <a:t>FedAvg</a:t>
            </a:r>
            <a:r>
              <a:rPr lang="en-IN" dirty="0"/>
              <a:t> and </a:t>
            </a:r>
            <a:r>
              <a:rPr lang="en-IN" dirty="0" err="1"/>
              <a:t>FedProx</a:t>
            </a:r>
            <a:r>
              <a:rPr lang="en-IN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Training:</a:t>
            </a:r>
            <a:r>
              <a:rPr lang="en-IN" dirty="0"/>
              <a:t> 5 local epochs × 20 communication rounds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Optimizer:</a:t>
            </a:r>
            <a:r>
              <a:rPr lang="en-IN" dirty="0"/>
              <a:t> Adam, learning rate = 0.001 </a:t>
            </a:r>
          </a:p>
        </p:txBody>
      </p:sp>
    </p:spTree>
    <p:extLst>
      <p:ext uri="{BB962C8B-B14F-4D97-AF65-F5344CB8AC3E}">
        <p14:creationId xmlns:p14="http://schemas.microsoft.com/office/powerpoint/2010/main" val="38761277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A7E60D7-07A0-BF33-3E66-E2F8C99B0E41}"/>
              </a:ext>
            </a:extLst>
          </p:cNvPr>
          <p:cNvSpPr/>
          <p:nvPr/>
        </p:nvSpPr>
        <p:spPr>
          <a:xfrm>
            <a:off x="-1" y="6980"/>
            <a:ext cx="12192000" cy="837398"/>
          </a:xfrm>
          <a:prstGeom prst="rect">
            <a:avLst/>
          </a:prstGeom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3598CB1-43FE-F616-74FA-6AEE59FA6BF1}"/>
              </a:ext>
            </a:extLst>
          </p:cNvPr>
          <p:cNvSpPr/>
          <p:nvPr/>
        </p:nvSpPr>
        <p:spPr>
          <a:xfrm>
            <a:off x="0" y="6451517"/>
            <a:ext cx="12192000" cy="393289"/>
          </a:xfrm>
          <a:prstGeom prst="rect">
            <a:avLst/>
          </a:prstGeom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87C7729E-193F-258C-8EF4-20F3CCBF18C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460922"/>
            <a:ext cx="997974" cy="365125"/>
          </a:xfrm>
        </p:spPr>
        <p:txBody>
          <a:bodyPr/>
          <a:lstStyle/>
          <a:p>
            <a:fld id="{C72AAC90-D07C-417D-96C6-81B39DB87062}" type="datetime1">
              <a:rPr lang="en-IN" smtClean="0">
                <a:solidFill>
                  <a:schemeClr val="tx1"/>
                </a:solidFill>
              </a:rPr>
              <a:t>17-09-2026</a:t>
            </a:fld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C4BF904-2B4D-1986-6D4C-27CBD9A5E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27443" y="6478792"/>
            <a:ext cx="876067" cy="379208"/>
          </a:xfrm>
        </p:spPr>
        <p:txBody>
          <a:bodyPr/>
          <a:lstStyle/>
          <a:p>
            <a:fld id="{0F06A4E2-163B-4ABA-8562-AD05AC3F17C5}" type="slidenum">
              <a:rPr lang="en-IN" sz="1800" smtClean="0">
                <a:solidFill>
                  <a:schemeClr val="tx1"/>
                </a:solidFill>
              </a:rPr>
              <a:t>10</a:t>
            </a:fld>
            <a:endParaRPr lang="en-IN" sz="1800" dirty="0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13CE1DE-D210-C7A2-61C0-FF7B6B511F8A}"/>
              </a:ext>
            </a:extLst>
          </p:cNvPr>
          <p:cNvSpPr txBox="1"/>
          <p:nvPr/>
        </p:nvSpPr>
        <p:spPr>
          <a:xfrm flipH="1">
            <a:off x="135928" y="877163"/>
            <a:ext cx="20638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0EC79EE-C1C4-E275-0987-67B7B3A60CCB}"/>
              </a:ext>
            </a:extLst>
          </p:cNvPr>
          <p:cNvSpPr txBox="1"/>
          <p:nvPr/>
        </p:nvSpPr>
        <p:spPr>
          <a:xfrm>
            <a:off x="8955476" y="31393"/>
            <a:ext cx="314803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Guide: 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Mr.Ch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. 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Vijayananda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Ratnam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Batch ID: C07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23BQ1A61B0 (TL), 23BQ1A61B3,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23BQ1A61F5, 24BQ5A6141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endParaRPr lang="en-IN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86" y="92353"/>
            <a:ext cx="993618" cy="69346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0EC79EE-C1C4-E275-0987-67B7B3A60CCB}"/>
              </a:ext>
            </a:extLst>
          </p:cNvPr>
          <p:cNvSpPr txBox="1"/>
          <p:nvPr/>
        </p:nvSpPr>
        <p:spPr>
          <a:xfrm>
            <a:off x="1531467" y="82617"/>
            <a:ext cx="742401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Federated Skin Disease Classification under Non-IID Data Using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Model-Contrastive Learning 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Footer Placeholder 11">
            <a:extLst>
              <a:ext uri="{FF2B5EF4-FFF2-40B4-BE49-F238E27FC236}">
                <a16:creationId xmlns:a16="http://schemas.microsoft.com/office/drawing/2014/main" id="{D814EF05-CC25-9D43-57B5-90EDB1ED1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99271" y="6460922"/>
            <a:ext cx="4114800" cy="365125"/>
          </a:xfrm>
        </p:spPr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Dept. CSM @ VVIT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13CE1DE-D210-C7A2-61C0-FF7B6B511F8A}"/>
              </a:ext>
            </a:extLst>
          </p:cNvPr>
          <p:cNvSpPr txBox="1"/>
          <p:nvPr/>
        </p:nvSpPr>
        <p:spPr>
          <a:xfrm flipH="1">
            <a:off x="135928" y="1326501"/>
            <a:ext cx="119201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 Proposed Method | Data &amp; Setup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key Results | </a:t>
            </a:r>
            <a:r>
              <a:rPr lang="en-IN" sz="14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Strengths &amp; Limitations | Relevance to my research |</a:t>
            </a:r>
          </a:p>
        </p:txBody>
      </p:sp>
      <p:sp>
        <p:nvSpPr>
          <p:cNvPr id="6" name="Rectangle 5"/>
          <p:cNvSpPr/>
          <p:nvPr/>
        </p:nvSpPr>
        <p:spPr>
          <a:xfrm>
            <a:off x="2082799" y="862390"/>
            <a:ext cx="1002070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/>
              <a:t>Ref 02 – </a:t>
            </a:r>
            <a:r>
              <a:rPr lang="en-IN" sz="1400" b="1" dirty="0"/>
              <a:t>A Privacy-Preserving Collaborative Federated Learning Framework for Detecting Retinal Diseases</a:t>
            </a:r>
            <a:br>
              <a:rPr lang="en-US" sz="1400" dirty="0"/>
            </a:br>
            <a:r>
              <a:rPr lang="en-US" sz="1400" i="1" dirty="0"/>
              <a:t>Author et al., 2024 | IEEE Transactions on Medical Imaging</a:t>
            </a:r>
            <a:endParaRPr lang="en-IN" sz="1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EE3078C-0550-C6BD-C37A-C32BB8314775}"/>
              </a:ext>
            </a:extLst>
          </p:cNvPr>
          <p:cNvSpPr txBox="1"/>
          <p:nvPr/>
        </p:nvSpPr>
        <p:spPr>
          <a:xfrm>
            <a:off x="498987" y="1677833"/>
            <a:ext cx="8272417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b="1" dirty="0"/>
              <a:t>Key Results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b="1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2 Clients – IID:</a:t>
            </a:r>
            <a:r>
              <a:rPr lang="en-IN" dirty="0"/>
              <a:t> </a:t>
            </a:r>
            <a:r>
              <a:rPr lang="en-IN" dirty="0" err="1"/>
              <a:t>FedAvg</a:t>
            </a:r>
            <a:r>
              <a:rPr lang="en-IN" dirty="0"/>
              <a:t> </a:t>
            </a:r>
            <a:r>
              <a:rPr lang="en-IN" b="1" dirty="0"/>
              <a:t>98.69%</a:t>
            </a:r>
            <a:r>
              <a:rPr lang="en-IN" dirty="0"/>
              <a:t> | </a:t>
            </a:r>
            <a:r>
              <a:rPr lang="en-IN" dirty="0" err="1"/>
              <a:t>FedProx</a:t>
            </a:r>
            <a:r>
              <a:rPr lang="en-IN" dirty="0"/>
              <a:t> </a:t>
            </a:r>
            <a:r>
              <a:rPr lang="en-IN" b="1" dirty="0"/>
              <a:t>98.03%</a:t>
            </a:r>
            <a:r>
              <a:rPr lang="en-IN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2 Clients – Non-IID:</a:t>
            </a:r>
            <a:r>
              <a:rPr lang="en-IN" dirty="0"/>
              <a:t> </a:t>
            </a:r>
            <a:r>
              <a:rPr lang="en-IN" dirty="0" err="1"/>
              <a:t>FedAvg</a:t>
            </a:r>
            <a:r>
              <a:rPr lang="en-IN" dirty="0"/>
              <a:t> </a:t>
            </a:r>
            <a:r>
              <a:rPr lang="en-IN" b="1" dirty="0"/>
              <a:t>87.09%</a:t>
            </a:r>
            <a:r>
              <a:rPr lang="en-IN" dirty="0"/>
              <a:t> | </a:t>
            </a:r>
            <a:r>
              <a:rPr lang="en-IN" dirty="0" err="1"/>
              <a:t>FedProx</a:t>
            </a:r>
            <a:r>
              <a:rPr lang="en-IN" dirty="0"/>
              <a:t> </a:t>
            </a:r>
            <a:r>
              <a:rPr lang="en-IN" b="1" dirty="0"/>
              <a:t>98.25%</a:t>
            </a:r>
            <a:r>
              <a:rPr lang="en-IN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3 Clients – IID:</a:t>
            </a:r>
            <a:r>
              <a:rPr lang="en-IN" dirty="0"/>
              <a:t> </a:t>
            </a:r>
            <a:r>
              <a:rPr lang="en-IN" dirty="0" err="1"/>
              <a:t>FedAvg</a:t>
            </a:r>
            <a:r>
              <a:rPr lang="en-IN" dirty="0"/>
              <a:t> </a:t>
            </a:r>
            <a:r>
              <a:rPr lang="en-IN" b="1" dirty="0"/>
              <a:t>97.62%</a:t>
            </a:r>
            <a:r>
              <a:rPr lang="en-IN" dirty="0"/>
              <a:t> | </a:t>
            </a:r>
            <a:r>
              <a:rPr lang="en-IN" dirty="0" err="1"/>
              <a:t>FedProx</a:t>
            </a:r>
            <a:r>
              <a:rPr lang="en-IN" dirty="0"/>
              <a:t> </a:t>
            </a:r>
            <a:r>
              <a:rPr lang="en-IN" b="1" dirty="0"/>
              <a:t>98.69%</a:t>
            </a:r>
            <a:r>
              <a:rPr lang="en-IN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3 Clients – Non-IID:</a:t>
            </a:r>
            <a:r>
              <a:rPr lang="en-IN" dirty="0"/>
              <a:t> </a:t>
            </a:r>
            <a:r>
              <a:rPr lang="en-IN" dirty="0" err="1"/>
              <a:t>FedAvg</a:t>
            </a:r>
            <a:r>
              <a:rPr lang="en-IN" dirty="0"/>
              <a:t> </a:t>
            </a:r>
            <a:r>
              <a:rPr lang="en-IN" b="1" dirty="0"/>
              <a:t>96.28%</a:t>
            </a:r>
            <a:r>
              <a:rPr lang="en-IN" dirty="0"/>
              <a:t> | </a:t>
            </a:r>
            <a:r>
              <a:rPr lang="en-IN" dirty="0" err="1"/>
              <a:t>FedProx</a:t>
            </a:r>
            <a:r>
              <a:rPr lang="en-IN" dirty="0"/>
              <a:t> </a:t>
            </a:r>
            <a:r>
              <a:rPr lang="en-IN" b="1" dirty="0"/>
              <a:t>97.77%</a:t>
            </a:r>
            <a:r>
              <a:rPr lang="en-IN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 err="1"/>
              <a:t>FedProx</a:t>
            </a:r>
            <a:r>
              <a:rPr lang="en-IN" dirty="0"/>
              <a:t> showed </a:t>
            </a:r>
            <a:r>
              <a:rPr lang="en-IN" b="1" dirty="0"/>
              <a:t>better stability</a:t>
            </a:r>
            <a:r>
              <a:rPr lang="en-IN" dirty="0"/>
              <a:t> under Non-IID conditions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 err="1"/>
              <a:t>FedProx</a:t>
            </a:r>
            <a:r>
              <a:rPr lang="en-IN" dirty="0"/>
              <a:t> achieved </a:t>
            </a:r>
            <a:r>
              <a:rPr lang="en-IN" b="1" dirty="0"/>
              <a:t>earlier convergence</a:t>
            </a:r>
            <a:r>
              <a:rPr lang="en-IN" dirty="0"/>
              <a:t> than </a:t>
            </a:r>
            <a:r>
              <a:rPr lang="en-IN" dirty="0" err="1"/>
              <a:t>FedAvg</a:t>
            </a:r>
            <a:r>
              <a:rPr lang="en-IN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The advantage of </a:t>
            </a:r>
            <a:r>
              <a:rPr lang="en-IN" dirty="0" err="1"/>
              <a:t>FedProx</a:t>
            </a:r>
            <a:r>
              <a:rPr lang="en-IN" dirty="0"/>
              <a:t> was more noticeable with </a:t>
            </a:r>
            <a:r>
              <a:rPr lang="en-IN" b="1" dirty="0"/>
              <a:t>heterogeneous client data</a:t>
            </a: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064797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A7E60D7-07A0-BF33-3E66-E2F8C99B0E41}"/>
              </a:ext>
            </a:extLst>
          </p:cNvPr>
          <p:cNvSpPr/>
          <p:nvPr/>
        </p:nvSpPr>
        <p:spPr>
          <a:xfrm>
            <a:off x="-1" y="6980"/>
            <a:ext cx="12192000" cy="837398"/>
          </a:xfrm>
          <a:prstGeom prst="rect">
            <a:avLst/>
          </a:prstGeom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3598CB1-43FE-F616-74FA-6AEE59FA6BF1}"/>
              </a:ext>
            </a:extLst>
          </p:cNvPr>
          <p:cNvSpPr/>
          <p:nvPr/>
        </p:nvSpPr>
        <p:spPr>
          <a:xfrm>
            <a:off x="0" y="6451517"/>
            <a:ext cx="12192000" cy="393289"/>
          </a:xfrm>
          <a:prstGeom prst="rect">
            <a:avLst/>
          </a:prstGeom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87C7729E-193F-258C-8EF4-20F3CCBF18C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460922"/>
            <a:ext cx="997974" cy="365125"/>
          </a:xfrm>
        </p:spPr>
        <p:txBody>
          <a:bodyPr/>
          <a:lstStyle/>
          <a:p>
            <a:fld id="{C72AAC90-D07C-417D-96C6-81B39DB87062}" type="datetime1">
              <a:rPr lang="en-IN" smtClean="0">
                <a:solidFill>
                  <a:schemeClr val="tx1"/>
                </a:solidFill>
              </a:rPr>
              <a:t>17-09-2026</a:t>
            </a:fld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C4BF904-2B4D-1986-6D4C-27CBD9A5E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27443" y="6478792"/>
            <a:ext cx="876067" cy="379208"/>
          </a:xfrm>
        </p:spPr>
        <p:txBody>
          <a:bodyPr/>
          <a:lstStyle/>
          <a:p>
            <a:fld id="{0F06A4E2-163B-4ABA-8562-AD05AC3F17C5}" type="slidenum">
              <a:rPr lang="en-IN" sz="1800" smtClean="0">
                <a:solidFill>
                  <a:schemeClr val="tx1"/>
                </a:solidFill>
              </a:rPr>
              <a:t>11</a:t>
            </a:fld>
            <a:endParaRPr lang="en-IN" sz="1800" dirty="0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13CE1DE-D210-C7A2-61C0-FF7B6B511F8A}"/>
              </a:ext>
            </a:extLst>
          </p:cNvPr>
          <p:cNvSpPr txBox="1"/>
          <p:nvPr/>
        </p:nvSpPr>
        <p:spPr>
          <a:xfrm flipH="1">
            <a:off x="135928" y="877163"/>
            <a:ext cx="20638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0EC79EE-C1C4-E275-0987-67B7B3A60CCB}"/>
              </a:ext>
            </a:extLst>
          </p:cNvPr>
          <p:cNvSpPr txBox="1"/>
          <p:nvPr/>
        </p:nvSpPr>
        <p:spPr>
          <a:xfrm>
            <a:off x="8955476" y="31393"/>
            <a:ext cx="314803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Guide: 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Mr.Ch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. 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Vijayananda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Ratnam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Batch ID: C07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23BQ1A61B0 (TL), 23BQ1A61B3,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23BQ1A61F5, 24BQ5A6141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endParaRPr lang="en-IN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86" y="92353"/>
            <a:ext cx="993618" cy="69346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0EC79EE-C1C4-E275-0987-67B7B3A60CCB}"/>
              </a:ext>
            </a:extLst>
          </p:cNvPr>
          <p:cNvSpPr txBox="1"/>
          <p:nvPr/>
        </p:nvSpPr>
        <p:spPr>
          <a:xfrm>
            <a:off x="1531467" y="82617"/>
            <a:ext cx="742401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Federated Skin Disease Classification under Non-IID Data Using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Model-Contrastive Learning 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Footer Placeholder 11">
            <a:extLst>
              <a:ext uri="{FF2B5EF4-FFF2-40B4-BE49-F238E27FC236}">
                <a16:creationId xmlns:a16="http://schemas.microsoft.com/office/drawing/2014/main" id="{D814EF05-CC25-9D43-57B5-90EDB1ED1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99271" y="6460922"/>
            <a:ext cx="4114800" cy="365125"/>
          </a:xfrm>
        </p:spPr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Dept. CSM @ VVIT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13CE1DE-D210-C7A2-61C0-FF7B6B511F8A}"/>
              </a:ext>
            </a:extLst>
          </p:cNvPr>
          <p:cNvSpPr txBox="1"/>
          <p:nvPr/>
        </p:nvSpPr>
        <p:spPr>
          <a:xfrm flipH="1">
            <a:off x="135928" y="1326501"/>
            <a:ext cx="119201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 Proposed Method | Data &amp; Setup | key Results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Strengths &amp; Limitations | </a:t>
            </a:r>
            <a:r>
              <a:rPr lang="en-IN" sz="14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Relevance to my research |</a:t>
            </a:r>
          </a:p>
        </p:txBody>
      </p:sp>
      <p:sp>
        <p:nvSpPr>
          <p:cNvPr id="6" name="Rectangle 5"/>
          <p:cNvSpPr/>
          <p:nvPr/>
        </p:nvSpPr>
        <p:spPr>
          <a:xfrm>
            <a:off x="2082799" y="862390"/>
            <a:ext cx="1002070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/>
              <a:t>Ref 02 – </a:t>
            </a:r>
            <a:r>
              <a:rPr lang="en-IN" sz="1400" b="1" dirty="0"/>
              <a:t>A Privacy-Preserving Collaborative Federated Learning Framework for Detecting Retinal Diseases</a:t>
            </a:r>
            <a:br>
              <a:rPr lang="en-US" sz="1400" dirty="0"/>
            </a:br>
            <a:r>
              <a:rPr lang="en-US" sz="1400" i="1" dirty="0"/>
              <a:t>Author et al., 2024 | IEEE Transactions on Medical Imaging</a:t>
            </a:r>
            <a:endParaRPr lang="en-IN" sz="1400" dirty="0"/>
          </a:p>
        </p:txBody>
      </p:sp>
      <p:sp>
        <p:nvSpPr>
          <p:cNvPr id="7" name="Rounded Rectangle 6"/>
          <p:cNvSpPr/>
          <p:nvPr/>
        </p:nvSpPr>
        <p:spPr>
          <a:xfrm>
            <a:off x="264160" y="2194560"/>
            <a:ext cx="5699760" cy="3749040"/>
          </a:xfrm>
          <a:prstGeom prst="roundRect">
            <a:avLst>
              <a:gd name="adj" fmla="val 3659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Preserves privacy by keeping medical images </a:t>
            </a:r>
            <a:r>
              <a:rPr lang="en-IN" b="1" dirty="0">
                <a:solidFill>
                  <a:schemeClr val="tx1"/>
                </a:solidFill>
              </a:rPr>
              <a:t>local to each client</a:t>
            </a:r>
            <a:r>
              <a:rPr lang="en-IN" dirty="0">
                <a:solidFill>
                  <a:schemeClr val="tx1"/>
                </a:solidFill>
              </a:rPr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Directly compares </a:t>
            </a:r>
            <a:r>
              <a:rPr lang="en-IN" b="1" dirty="0" err="1">
                <a:solidFill>
                  <a:schemeClr val="tx1"/>
                </a:solidFill>
              </a:rPr>
              <a:t>FedAvg</a:t>
            </a:r>
            <a:r>
              <a:rPr lang="en-IN" b="1" dirty="0">
                <a:solidFill>
                  <a:schemeClr val="tx1"/>
                </a:solidFill>
              </a:rPr>
              <a:t> and </a:t>
            </a:r>
            <a:r>
              <a:rPr lang="en-IN" b="1" dirty="0" err="1">
                <a:solidFill>
                  <a:schemeClr val="tx1"/>
                </a:solidFill>
              </a:rPr>
              <a:t>FedProx</a:t>
            </a:r>
            <a:r>
              <a:rPr lang="en-IN" dirty="0">
                <a:solidFill>
                  <a:schemeClr val="tx1"/>
                </a:solidFill>
              </a:rPr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Evaluates both </a:t>
            </a:r>
            <a:r>
              <a:rPr lang="en-IN" b="1" dirty="0">
                <a:solidFill>
                  <a:schemeClr val="tx1"/>
                </a:solidFill>
              </a:rPr>
              <a:t>IID and Non-IID</a:t>
            </a:r>
            <a:r>
              <a:rPr lang="en-IN" dirty="0">
                <a:solidFill>
                  <a:schemeClr val="tx1"/>
                </a:solidFill>
              </a:rPr>
              <a:t> data distributions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Tests </a:t>
            </a:r>
            <a:r>
              <a:rPr lang="en-IN" b="1" dirty="0">
                <a:solidFill>
                  <a:schemeClr val="tx1"/>
                </a:solidFill>
              </a:rPr>
              <a:t>2-client and 3-client</a:t>
            </a:r>
            <a:r>
              <a:rPr lang="en-IN" dirty="0">
                <a:solidFill>
                  <a:schemeClr val="tx1"/>
                </a:solidFill>
              </a:rPr>
              <a:t> FL scenarios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Uses multiple metrics: </a:t>
            </a:r>
            <a:r>
              <a:rPr lang="en-IN" b="1" dirty="0">
                <a:solidFill>
                  <a:schemeClr val="tx1"/>
                </a:solidFill>
              </a:rPr>
              <a:t>Accuracy, Precision, Recall and F1-score</a:t>
            </a:r>
            <a:r>
              <a:rPr lang="en-IN" dirty="0">
                <a:solidFill>
                  <a:schemeClr val="tx1"/>
                </a:solidFill>
              </a:rPr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Studies </a:t>
            </a:r>
            <a:r>
              <a:rPr lang="en-IN" b="1" dirty="0">
                <a:solidFill>
                  <a:schemeClr val="tx1"/>
                </a:solidFill>
              </a:rPr>
              <a:t>convergence and client heterogeneity</a:t>
            </a:r>
            <a:endParaRPr lang="en-IN" dirty="0">
              <a:solidFill>
                <a:schemeClr val="tx1"/>
              </a:solidFill>
            </a:endParaRPr>
          </a:p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146800" y="2194560"/>
            <a:ext cx="5699760" cy="3749040"/>
          </a:xfrm>
          <a:prstGeom prst="roundRect">
            <a:avLst>
              <a:gd name="adj" fmla="val 3659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Focused only on </a:t>
            </a:r>
            <a:r>
              <a:rPr lang="en-IN" b="1" dirty="0">
                <a:solidFill>
                  <a:schemeClr val="tx1"/>
                </a:solidFill>
              </a:rPr>
              <a:t>retinal disease classification</a:t>
            </a:r>
            <a:r>
              <a:rPr lang="en-IN" dirty="0">
                <a:solidFill>
                  <a:schemeClr val="tx1"/>
                </a:solidFill>
              </a:rPr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Uses a relatively </a:t>
            </a:r>
            <a:r>
              <a:rPr lang="en-IN" b="1" dirty="0">
                <a:solidFill>
                  <a:schemeClr val="tx1"/>
                </a:solidFill>
              </a:rPr>
              <a:t>small dataset (2,284 images)</a:t>
            </a:r>
            <a:r>
              <a:rPr lang="en-IN" dirty="0">
                <a:solidFill>
                  <a:schemeClr val="tx1"/>
                </a:solidFill>
              </a:rPr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Experiments are limited to </a:t>
            </a:r>
            <a:r>
              <a:rPr lang="en-IN" b="1" dirty="0">
                <a:solidFill>
                  <a:schemeClr val="tx1"/>
                </a:solidFill>
              </a:rPr>
              <a:t>2 and 3 simulated clients</a:t>
            </a:r>
            <a:r>
              <a:rPr lang="en-IN" dirty="0">
                <a:solidFill>
                  <a:schemeClr val="tx1"/>
                </a:solidFill>
              </a:rPr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Does not address larger-scale federated deployments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Focuses mainly on </a:t>
            </a:r>
            <a:r>
              <a:rPr lang="en-IN" b="1" dirty="0" err="1">
                <a:solidFill>
                  <a:schemeClr val="tx1"/>
                </a:solidFill>
              </a:rPr>
              <a:t>FedAvg</a:t>
            </a:r>
            <a:r>
              <a:rPr lang="en-IN" b="1" dirty="0">
                <a:solidFill>
                  <a:schemeClr val="tx1"/>
                </a:solidFill>
              </a:rPr>
              <a:t> and </a:t>
            </a:r>
            <a:r>
              <a:rPr lang="en-IN" b="1" dirty="0" err="1">
                <a:solidFill>
                  <a:schemeClr val="tx1"/>
                </a:solidFill>
              </a:rPr>
              <a:t>FedProx</a:t>
            </a:r>
            <a:r>
              <a:rPr lang="en-IN" dirty="0">
                <a:solidFill>
                  <a:schemeClr val="tx1"/>
                </a:solidFill>
              </a:rPr>
              <a:t> for handling heterogeneity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6259202" y="2148841"/>
            <a:ext cx="5441307" cy="45719"/>
          </a:xfrm>
          <a:prstGeom prst="rect">
            <a:avLst/>
          </a:prstGeom>
          <a:solidFill>
            <a:srgbClr val="EC7E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/>
          <p:cNvSpPr/>
          <p:nvPr/>
        </p:nvSpPr>
        <p:spPr>
          <a:xfrm>
            <a:off x="393386" y="2148841"/>
            <a:ext cx="5441307" cy="45719"/>
          </a:xfrm>
          <a:prstGeom prst="rect">
            <a:avLst/>
          </a:prstGeom>
          <a:solidFill>
            <a:srgbClr val="EC7E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/>
          <p:cNvSpPr txBox="1"/>
          <p:nvPr/>
        </p:nvSpPr>
        <p:spPr>
          <a:xfrm>
            <a:off x="393386" y="1799012"/>
            <a:ext cx="10758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Strengths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59202" y="1779509"/>
            <a:ext cx="12490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</a:p>
        </p:txBody>
      </p:sp>
    </p:spTree>
    <p:extLst>
      <p:ext uri="{BB962C8B-B14F-4D97-AF65-F5344CB8AC3E}">
        <p14:creationId xmlns:p14="http://schemas.microsoft.com/office/powerpoint/2010/main" val="34215890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A7E60D7-07A0-BF33-3E66-E2F8C99B0E41}"/>
              </a:ext>
            </a:extLst>
          </p:cNvPr>
          <p:cNvSpPr/>
          <p:nvPr/>
        </p:nvSpPr>
        <p:spPr>
          <a:xfrm>
            <a:off x="-1" y="6980"/>
            <a:ext cx="12192000" cy="837398"/>
          </a:xfrm>
          <a:prstGeom prst="rect">
            <a:avLst/>
          </a:prstGeom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3598CB1-43FE-F616-74FA-6AEE59FA6BF1}"/>
              </a:ext>
            </a:extLst>
          </p:cNvPr>
          <p:cNvSpPr/>
          <p:nvPr/>
        </p:nvSpPr>
        <p:spPr>
          <a:xfrm>
            <a:off x="0" y="6451517"/>
            <a:ext cx="12192000" cy="393289"/>
          </a:xfrm>
          <a:prstGeom prst="rect">
            <a:avLst/>
          </a:prstGeom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87C7729E-193F-258C-8EF4-20F3CCBF18C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460922"/>
            <a:ext cx="997974" cy="365125"/>
          </a:xfrm>
        </p:spPr>
        <p:txBody>
          <a:bodyPr/>
          <a:lstStyle/>
          <a:p>
            <a:fld id="{C72AAC90-D07C-417D-96C6-81B39DB87062}" type="datetime1">
              <a:rPr lang="en-IN" smtClean="0">
                <a:solidFill>
                  <a:schemeClr val="tx1"/>
                </a:solidFill>
              </a:rPr>
              <a:t>17-09-2026</a:t>
            </a:fld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C4BF904-2B4D-1986-6D4C-27CBD9A5E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27443" y="6478792"/>
            <a:ext cx="876067" cy="379208"/>
          </a:xfrm>
        </p:spPr>
        <p:txBody>
          <a:bodyPr/>
          <a:lstStyle/>
          <a:p>
            <a:fld id="{0F06A4E2-163B-4ABA-8562-AD05AC3F17C5}" type="slidenum">
              <a:rPr lang="en-IN" sz="1800" smtClean="0">
                <a:solidFill>
                  <a:schemeClr val="tx1"/>
                </a:solidFill>
              </a:rPr>
              <a:t>12</a:t>
            </a:fld>
            <a:endParaRPr lang="en-IN" sz="1800" dirty="0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13CE1DE-D210-C7A2-61C0-FF7B6B511F8A}"/>
              </a:ext>
            </a:extLst>
          </p:cNvPr>
          <p:cNvSpPr txBox="1"/>
          <p:nvPr/>
        </p:nvSpPr>
        <p:spPr>
          <a:xfrm flipH="1">
            <a:off x="135928" y="877163"/>
            <a:ext cx="20638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0EC79EE-C1C4-E275-0987-67B7B3A60CCB}"/>
              </a:ext>
            </a:extLst>
          </p:cNvPr>
          <p:cNvSpPr txBox="1"/>
          <p:nvPr/>
        </p:nvSpPr>
        <p:spPr>
          <a:xfrm>
            <a:off x="8955476" y="31393"/>
            <a:ext cx="314803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Guide: 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Mr.Ch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. 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Vijayananda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Ratnam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Batch ID: C07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23BQ1A61B0 (TL), 23BQ1A61B3,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23BQ1A61F5, 24BQ5A6141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endParaRPr lang="en-IN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86" y="92353"/>
            <a:ext cx="993618" cy="69346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0EC79EE-C1C4-E275-0987-67B7B3A60CCB}"/>
              </a:ext>
            </a:extLst>
          </p:cNvPr>
          <p:cNvSpPr txBox="1"/>
          <p:nvPr/>
        </p:nvSpPr>
        <p:spPr>
          <a:xfrm>
            <a:off x="1531467" y="82617"/>
            <a:ext cx="742401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Federated Skin Disease Classification under Non-IID Data Using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Model-Contrastive Learning 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Footer Placeholder 11">
            <a:extLst>
              <a:ext uri="{FF2B5EF4-FFF2-40B4-BE49-F238E27FC236}">
                <a16:creationId xmlns:a16="http://schemas.microsoft.com/office/drawing/2014/main" id="{D814EF05-CC25-9D43-57B5-90EDB1ED1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99271" y="6460922"/>
            <a:ext cx="4114800" cy="365125"/>
          </a:xfrm>
        </p:spPr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Dept. CSM @ VVIT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13CE1DE-D210-C7A2-61C0-FF7B6B511F8A}"/>
              </a:ext>
            </a:extLst>
          </p:cNvPr>
          <p:cNvSpPr txBox="1"/>
          <p:nvPr/>
        </p:nvSpPr>
        <p:spPr>
          <a:xfrm flipH="1">
            <a:off x="135928" y="1326501"/>
            <a:ext cx="119201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 Proposed Method | Data &amp; Setup | key Results | Strengths &amp; Limitations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Relevance to my research |</a:t>
            </a:r>
          </a:p>
        </p:txBody>
      </p:sp>
      <p:sp>
        <p:nvSpPr>
          <p:cNvPr id="6" name="Rectangle 5"/>
          <p:cNvSpPr/>
          <p:nvPr/>
        </p:nvSpPr>
        <p:spPr>
          <a:xfrm>
            <a:off x="2082799" y="862390"/>
            <a:ext cx="1002070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/>
              <a:t>Ref 02 – </a:t>
            </a:r>
            <a:r>
              <a:rPr lang="en-IN" sz="1400" b="1" dirty="0"/>
              <a:t>A Privacy-Preserving Collaborative Federated Learning Framework for Detecting Retinal Diseases</a:t>
            </a:r>
            <a:br>
              <a:rPr lang="en-IN" sz="1400" b="1" dirty="0"/>
            </a:br>
            <a:r>
              <a:rPr lang="en-US" sz="1400" i="1" dirty="0"/>
              <a:t>Author et al., 2024 | IEEE Transactions on Medical Imaging</a:t>
            </a:r>
            <a:endParaRPr lang="en-IN" sz="1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8F95F7E-46B8-D909-CD02-C9DC5F16FBF0}"/>
              </a:ext>
            </a:extLst>
          </p:cNvPr>
          <p:cNvSpPr txBox="1"/>
          <p:nvPr/>
        </p:nvSpPr>
        <p:spPr>
          <a:xfrm>
            <a:off x="498987" y="1821390"/>
            <a:ext cx="10361846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b="1" dirty="0"/>
              <a:t>Relevance to My Research</a:t>
            </a:r>
          </a:p>
          <a:p>
            <a:pPr lvl="0"/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Demonstrates </a:t>
            </a:r>
            <a:r>
              <a:rPr lang="en-IN" b="1" dirty="0"/>
              <a:t>Federated Learning for medical image classification</a:t>
            </a:r>
            <a:r>
              <a:rPr lang="en-IN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Shows the importance of handling </a:t>
            </a:r>
            <a:r>
              <a:rPr lang="en-IN" b="1" dirty="0"/>
              <a:t>Non-IID client data</a:t>
            </a:r>
            <a:r>
              <a:rPr lang="en-IN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Provides </a:t>
            </a:r>
            <a:r>
              <a:rPr lang="en-IN" b="1" dirty="0" err="1"/>
              <a:t>FedProx</a:t>
            </a:r>
            <a:r>
              <a:rPr lang="en-IN" dirty="0"/>
              <a:t> as a baseline for comparison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Supports the need to reduce </a:t>
            </a:r>
            <a:r>
              <a:rPr lang="en-IN" b="1" dirty="0"/>
              <a:t>client drift and model deviation</a:t>
            </a:r>
            <a:r>
              <a:rPr lang="en-IN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Provides a foundation for applying FL to </a:t>
            </a:r>
            <a:r>
              <a:rPr lang="en-IN" b="1" dirty="0"/>
              <a:t>skin disease classification</a:t>
            </a:r>
            <a:r>
              <a:rPr lang="en-IN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Our work extends this direction using </a:t>
            </a:r>
            <a:r>
              <a:rPr lang="en-IN" b="1" dirty="0"/>
              <a:t>Model-Contrastive Learning</a:t>
            </a:r>
            <a:r>
              <a:rPr lang="en-IN" dirty="0"/>
              <a:t> to improve consistency between local and global models</a:t>
            </a:r>
          </a:p>
        </p:txBody>
      </p:sp>
    </p:spTree>
    <p:extLst>
      <p:ext uri="{BB962C8B-B14F-4D97-AF65-F5344CB8AC3E}">
        <p14:creationId xmlns:p14="http://schemas.microsoft.com/office/powerpoint/2010/main" val="12185905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A7E60D7-07A0-BF33-3E66-E2F8C99B0E41}"/>
              </a:ext>
            </a:extLst>
          </p:cNvPr>
          <p:cNvSpPr/>
          <p:nvPr/>
        </p:nvSpPr>
        <p:spPr>
          <a:xfrm>
            <a:off x="-1" y="6980"/>
            <a:ext cx="12192000" cy="837398"/>
          </a:xfrm>
          <a:prstGeom prst="rect">
            <a:avLst/>
          </a:prstGeom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3598CB1-43FE-F616-74FA-6AEE59FA6BF1}"/>
              </a:ext>
            </a:extLst>
          </p:cNvPr>
          <p:cNvSpPr/>
          <p:nvPr/>
        </p:nvSpPr>
        <p:spPr>
          <a:xfrm>
            <a:off x="0" y="6451517"/>
            <a:ext cx="12192000" cy="393289"/>
          </a:xfrm>
          <a:prstGeom prst="rect">
            <a:avLst/>
          </a:prstGeom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87C7729E-193F-258C-8EF4-20F3CCBF18C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460922"/>
            <a:ext cx="997974" cy="365125"/>
          </a:xfrm>
        </p:spPr>
        <p:txBody>
          <a:bodyPr/>
          <a:lstStyle/>
          <a:p>
            <a:fld id="{C72AAC90-D07C-417D-96C6-81B39DB87062}" type="datetime1">
              <a:rPr lang="en-IN" smtClean="0">
                <a:solidFill>
                  <a:schemeClr val="tx1"/>
                </a:solidFill>
              </a:rPr>
              <a:t>17-09-2026</a:t>
            </a:fld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C4BF904-2B4D-1986-6D4C-27CBD9A5E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27443" y="6478792"/>
            <a:ext cx="876067" cy="379208"/>
          </a:xfrm>
        </p:spPr>
        <p:txBody>
          <a:bodyPr/>
          <a:lstStyle/>
          <a:p>
            <a:fld id="{0F06A4E2-163B-4ABA-8562-AD05AC3F17C5}" type="slidenum">
              <a:rPr lang="en-IN" sz="1800" smtClean="0">
                <a:solidFill>
                  <a:schemeClr val="tx1"/>
                </a:solidFill>
              </a:rPr>
              <a:t>13</a:t>
            </a:fld>
            <a:endParaRPr lang="en-IN" sz="1800" dirty="0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13CE1DE-D210-C7A2-61C0-FF7B6B511F8A}"/>
              </a:ext>
            </a:extLst>
          </p:cNvPr>
          <p:cNvSpPr txBox="1"/>
          <p:nvPr/>
        </p:nvSpPr>
        <p:spPr>
          <a:xfrm flipH="1">
            <a:off x="135928" y="877163"/>
            <a:ext cx="20638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0EC79EE-C1C4-E275-0987-67B7B3A60CCB}"/>
              </a:ext>
            </a:extLst>
          </p:cNvPr>
          <p:cNvSpPr txBox="1"/>
          <p:nvPr/>
        </p:nvSpPr>
        <p:spPr>
          <a:xfrm>
            <a:off x="8955476" y="31393"/>
            <a:ext cx="314803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Guide: 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Mr.Ch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. 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Vijayananda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Ratnam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Batch ID: C07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23BQ1A61B0 (TL), 23BQ1A61B3,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23BQ1A61F5, 24BQ5A6141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endParaRPr lang="en-IN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86" y="92353"/>
            <a:ext cx="993618" cy="69346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0EC79EE-C1C4-E275-0987-67B7B3A60CCB}"/>
              </a:ext>
            </a:extLst>
          </p:cNvPr>
          <p:cNvSpPr txBox="1"/>
          <p:nvPr/>
        </p:nvSpPr>
        <p:spPr>
          <a:xfrm>
            <a:off x="1531467" y="82617"/>
            <a:ext cx="742401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Federated Skin Disease Classification under Non-IID Data Using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Model-Contrastive Learning 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Footer Placeholder 11">
            <a:extLst>
              <a:ext uri="{FF2B5EF4-FFF2-40B4-BE49-F238E27FC236}">
                <a16:creationId xmlns:a16="http://schemas.microsoft.com/office/drawing/2014/main" id="{D814EF05-CC25-9D43-57B5-90EDB1ED1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99271" y="6460922"/>
            <a:ext cx="4114800" cy="365125"/>
          </a:xfrm>
        </p:spPr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Dept. CSM @ VVIT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13CE1DE-D210-C7A2-61C0-FF7B6B511F8A}"/>
              </a:ext>
            </a:extLst>
          </p:cNvPr>
          <p:cNvSpPr txBox="1"/>
          <p:nvPr/>
        </p:nvSpPr>
        <p:spPr>
          <a:xfrm flipH="1">
            <a:off x="135928" y="1326501"/>
            <a:ext cx="119201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Proposed Method | </a:t>
            </a:r>
            <a:r>
              <a:rPr lang="en-IN" sz="14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&amp; Setup | key Results | Strengths &amp; Limitations | Relevance to my research |</a:t>
            </a:r>
          </a:p>
        </p:txBody>
      </p:sp>
      <p:sp>
        <p:nvSpPr>
          <p:cNvPr id="6" name="Rectangle 5"/>
          <p:cNvSpPr/>
          <p:nvPr/>
        </p:nvSpPr>
        <p:spPr>
          <a:xfrm>
            <a:off x="2082799" y="862390"/>
            <a:ext cx="1002070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/>
              <a:t>Ref 03 – </a:t>
            </a:r>
            <a:r>
              <a:rPr lang="en-IN" sz="1400" b="1" dirty="0" err="1"/>
              <a:t>PCRFed</a:t>
            </a:r>
            <a:r>
              <a:rPr lang="en-IN" sz="1400" b="1" dirty="0"/>
              <a:t>: Personalized Federated Learning with Contrastive Representation for Non-IID Medical Image Segmentation</a:t>
            </a:r>
            <a:br>
              <a:rPr lang="en-IN" sz="1400" dirty="0"/>
            </a:br>
            <a:r>
              <a:rPr lang="en-US" sz="1400" i="1" dirty="0"/>
              <a:t>Author et al., 2025 | IEEE Transactions on Medical Imaging</a:t>
            </a:r>
            <a:endParaRPr lang="en-IN" sz="1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0ACF570-FEA8-2283-52FF-D20BDC01A007}"/>
              </a:ext>
            </a:extLst>
          </p:cNvPr>
          <p:cNvSpPr txBox="1"/>
          <p:nvPr/>
        </p:nvSpPr>
        <p:spPr>
          <a:xfrm>
            <a:off x="498987" y="1804150"/>
            <a:ext cx="928882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Proposed Method</a:t>
            </a:r>
          </a:p>
          <a:p>
            <a:pPr lvl="0"/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Proposes </a:t>
            </a:r>
            <a:r>
              <a:rPr lang="en-IN" b="1" dirty="0" err="1"/>
              <a:t>PCRFed</a:t>
            </a:r>
            <a:r>
              <a:rPr lang="en-IN" dirty="0"/>
              <a:t> for medical image segmentation under </a:t>
            </a:r>
            <a:r>
              <a:rPr lang="en-IN" b="1" dirty="0"/>
              <a:t>Non-IID data</a:t>
            </a:r>
            <a:r>
              <a:rPr lang="en-IN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Combines </a:t>
            </a:r>
            <a:r>
              <a:rPr lang="en-IN" b="1" dirty="0"/>
              <a:t>Personalized Federated Learning</a:t>
            </a:r>
            <a:r>
              <a:rPr lang="en-IN" dirty="0"/>
              <a:t> with </a:t>
            </a:r>
            <a:r>
              <a:rPr lang="en-IN" b="1" dirty="0"/>
              <a:t>Contrastive Representation Learning</a:t>
            </a:r>
            <a:r>
              <a:rPr lang="en-IN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Uses a </a:t>
            </a:r>
            <a:r>
              <a:rPr lang="en-IN" b="1" dirty="0"/>
              <a:t>weighted model-contrastive loss</a:t>
            </a:r>
            <a:r>
              <a:rPr lang="en-IN" dirty="0"/>
              <a:t> during local training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Encourages local models to learn useful </a:t>
            </a:r>
            <a:r>
              <a:rPr lang="en-IN" b="1" dirty="0"/>
              <a:t>client-specific representations</a:t>
            </a:r>
            <a:r>
              <a:rPr lang="en-IN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Maintains consistency with the </a:t>
            </a:r>
            <a:r>
              <a:rPr lang="en-IN" b="1" dirty="0"/>
              <a:t>global model</a:t>
            </a:r>
            <a:r>
              <a:rPr lang="en-IN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Designed to reduce the negative effects of </a:t>
            </a:r>
            <a:r>
              <a:rPr lang="en-IN" b="1" dirty="0"/>
              <a:t>client heterogeneity and model divergence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977969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A7E60D7-07A0-BF33-3E66-E2F8C99B0E41}"/>
              </a:ext>
            </a:extLst>
          </p:cNvPr>
          <p:cNvSpPr/>
          <p:nvPr/>
        </p:nvSpPr>
        <p:spPr>
          <a:xfrm>
            <a:off x="-1" y="6980"/>
            <a:ext cx="12192000" cy="837398"/>
          </a:xfrm>
          <a:prstGeom prst="rect">
            <a:avLst/>
          </a:prstGeom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3598CB1-43FE-F616-74FA-6AEE59FA6BF1}"/>
              </a:ext>
            </a:extLst>
          </p:cNvPr>
          <p:cNvSpPr/>
          <p:nvPr/>
        </p:nvSpPr>
        <p:spPr>
          <a:xfrm>
            <a:off x="0" y="6451517"/>
            <a:ext cx="12192000" cy="393289"/>
          </a:xfrm>
          <a:prstGeom prst="rect">
            <a:avLst/>
          </a:prstGeom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87C7729E-193F-258C-8EF4-20F3CCBF18C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460922"/>
            <a:ext cx="997974" cy="365125"/>
          </a:xfrm>
        </p:spPr>
        <p:txBody>
          <a:bodyPr/>
          <a:lstStyle/>
          <a:p>
            <a:fld id="{C72AAC90-D07C-417D-96C6-81B39DB87062}" type="datetime1">
              <a:rPr lang="en-IN" smtClean="0">
                <a:solidFill>
                  <a:schemeClr val="tx1"/>
                </a:solidFill>
              </a:rPr>
              <a:t>17-09-2026</a:t>
            </a:fld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C4BF904-2B4D-1986-6D4C-27CBD9A5E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27443" y="6478792"/>
            <a:ext cx="876067" cy="379208"/>
          </a:xfrm>
        </p:spPr>
        <p:txBody>
          <a:bodyPr/>
          <a:lstStyle/>
          <a:p>
            <a:fld id="{0F06A4E2-163B-4ABA-8562-AD05AC3F17C5}" type="slidenum">
              <a:rPr lang="en-IN" sz="1800" smtClean="0">
                <a:solidFill>
                  <a:schemeClr val="tx1"/>
                </a:solidFill>
              </a:rPr>
              <a:t>14</a:t>
            </a:fld>
            <a:endParaRPr lang="en-IN" sz="1800" dirty="0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13CE1DE-D210-C7A2-61C0-FF7B6B511F8A}"/>
              </a:ext>
            </a:extLst>
          </p:cNvPr>
          <p:cNvSpPr txBox="1"/>
          <p:nvPr/>
        </p:nvSpPr>
        <p:spPr>
          <a:xfrm flipH="1">
            <a:off x="135928" y="877163"/>
            <a:ext cx="20638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0EC79EE-C1C4-E275-0987-67B7B3A60CCB}"/>
              </a:ext>
            </a:extLst>
          </p:cNvPr>
          <p:cNvSpPr txBox="1"/>
          <p:nvPr/>
        </p:nvSpPr>
        <p:spPr>
          <a:xfrm>
            <a:off x="8955476" y="31393"/>
            <a:ext cx="314803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Guide: 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Mr.Ch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. 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Vijayananda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Ratnam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Batch ID: C07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23BQ1A61B0 (TL), 23BQ1A61B3,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23BQ1A61F5, 24BQ5A6141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endParaRPr lang="en-IN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86" y="92353"/>
            <a:ext cx="993618" cy="69346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0EC79EE-C1C4-E275-0987-67B7B3A60CCB}"/>
              </a:ext>
            </a:extLst>
          </p:cNvPr>
          <p:cNvSpPr txBox="1"/>
          <p:nvPr/>
        </p:nvSpPr>
        <p:spPr>
          <a:xfrm>
            <a:off x="1531467" y="82617"/>
            <a:ext cx="742401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Federated Skin Disease Classification under Non-IID Data Using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Model-Contrastive Learning 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Footer Placeholder 11">
            <a:extLst>
              <a:ext uri="{FF2B5EF4-FFF2-40B4-BE49-F238E27FC236}">
                <a16:creationId xmlns:a16="http://schemas.microsoft.com/office/drawing/2014/main" id="{D814EF05-CC25-9D43-57B5-90EDB1ED1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99271" y="6460922"/>
            <a:ext cx="4114800" cy="365125"/>
          </a:xfrm>
        </p:spPr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Dept. CSM @ VVIT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13CE1DE-D210-C7A2-61C0-FF7B6B511F8A}"/>
              </a:ext>
            </a:extLst>
          </p:cNvPr>
          <p:cNvSpPr txBox="1"/>
          <p:nvPr/>
        </p:nvSpPr>
        <p:spPr>
          <a:xfrm flipH="1">
            <a:off x="135928" y="1326501"/>
            <a:ext cx="119201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 Proposed Method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Data &amp; Setup | </a:t>
            </a:r>
            <a:r>
              <a:rPr lang="en-IN" sz="14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Results | Strengths &amp; Limitations | Relevance to my research |</a:t>
            </a:r>
          </a:p>
        </p:txBody>
      </p:sp>
      <p:sp>
        <p:nvSpPr>
          <p:cNvPr id="6" name="Rectangle 5"/>
          <p:cNvSpPr/>
          <p:nvPr/>
        </p:nvSpPr>
        <p:spPr>
          <a:xfrm>
            <a:off x="2082799" y="862390"/>
            <a:ext cx="1002070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/>
              <a:t>Ref 03 – </a:t>
            </a:r>
            <a:r>
              <a:rPr lang="en-IN" sz="1400" b="1" dirty="0" err="1"/>
              <a:t>PCRFed</a:t>
            </a:r>
            <a:r>
              <a:rPr lang="en-IN" sz="1400" b="1" dirty="0"/>
              <a:t>: Personalized Federated Learning with Contrastive Representation for Non-IID Medical Image Segmentation</a:t>
            </a:r>
            <a:br>
              <a:rPr lang="en-US" sz="1400" dirty="0"/>
            </a:br>
            <a:r>
              <a:rPr lang="en-US" sz="1400" i="1" dirty="0"/>
              <a:t>Author et al., 2025 | IEEE Transactions on Medical Imaging</a:t>
            </a:r>
            <a:endParaRPr lang="en-IN" sz="1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D38102B-3508-97CD-4CDB-A4BA6B1DC3D5}"/>
              </a:ext>
            </a:extLst>
          </p:cNvPr>
          <p:cNvSpPr txBox="1"/>
          <p:nvPr/>
        </p:nvSpPr>
        <p:spPr>
          <a:xfrm>
            <a:off x="498987" y="1821390"/>
            <a:ext cx="8456489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b="1" dirty="0"/>
              <a:t>Data &amp; Setup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b="1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Task:</a:t>
            </a:r>
            <a:r>
              <a:rPr lang="en-IN" dirty="0"/>
              <a:t> Medical image segmentation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Setting:</a:t>
            </a:r>
            <a:r>
              <a:rPr lang="en-IN" dirty="0"/>
              <a:t> </a:t>
            </a:r>
            <a:r>
              <a:rPr lang="en-IN" b="1" dirty="0"/>
              <a:t>Non-IID</a:t>
            </a:r>
            <a:r>
              <a:rPr lang="en-IN" dirty="0"/>
              <a:t> data across federated clients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Application:</a:t>
            </a:r>
            <a:r>
              <a:rPr lang="en-IN" dirty="0"/>
              <a:t> Prostate medical image segmentation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FL setup:</a:t>
            </a:r>
            <a:r>
              <a:rPr lang="en-IN" dirty="0"/>
              <a:t> Multiple clients train using their </a:t>
            </a:r>
            <a:r>
              <a:rPr lang="en-IN" b="1" dirty="0"/>
              <a:t>local datasets</a:t>
            </a:r>
            <a:r>
              <a:rPr lang="en-IN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Method:</a:t>
            </a:r>
            <a:r>
              <a:rPr lang="en-IN" dirty="0"/>
              <a:t> Personalized Federated Learning + </a:t>
            </a:r>
            <a:r>
              <a:rPr lang="en-IN" b="1" dirty="0"/>
              <a:t>Contrastive Representation Learning</a:t>
            </a:r>
            <a:r>
              <a:rPr lang="en-IN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Loss:</a:t>
            </a:r>
            <a:r>
              <a:rPr lang="en-IN" dirty="0"/>
              <a:t> Weighted </a:t>
            </a:r>
            <a:r>
              <a:rPr lang="en-IN" b="1" dirty="0"/>
              <a:t>model-contrastive loss</a:t>
            </a:r>
            <a:r>
              <a:rPr lang="en-IN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Compared with existing FL methods for </a:t>
            </a:r>
            <a:r>
              <a:rPr lang="en-IN" b="1" dirty="0"/>
              <a:t>Non-IID medical image segmentation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40994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A7E60D7-07A0-BF33-3E66-E2F8C99B0E41}"/>
              </a:ext>
            </a:extLst>
          </p:cNvPr>
          <p:cNvSpPr/>
          <p:nvPr/>
        </p:nvSpPr>
        <p:spPr>
          <a:xfrm>
            <a:off x="-1" y="6980"/>
            <a:ext cx="12192000" cy="837398"/>
          </a:xfrm>
          <a:prstGeom prst="rect">
            <a:avLst/>
          </a:prstGeom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3598CB1-43FE-F616-74FA-6AEE59FA6BF1}"/>
              </a:ext>
            </a:extLst>
          </p:cNvPr>
          <p:cNvSpPr/>
          <p:nvPr/>
        </p:nvSpPr>
        <p:spPr>
          <a:xfrm>
            <a:off x="0" y="6451517"/>
            <a:ext cx="12192000" cy="393289"/>
          </a:xfrm>
          <a:prstGeom prst="rect">
            <a:avLst/>
          </a:prstGeom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87C7729E-193F-258C-8EF4-20F3CCBF18C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460922"/>
            <a:ext cx="997974" cy="365125"/>
          </a:xfrm>
        </p:spPr>
        <p:txBody>
          <a:bodyPr/>
          <a:lstStyle/>
          <a:p>
            <a:fld id="{C72AAC90-D07C-417D-96C6-81B39DB87062}" type="datetime1">
              <a:rPr lang="en-IN" smtClean="0">
                <a:solidFill>
                  <a:schemeClr val="tx1"/>
                </a:solidFill>
              </a:rPr>
              <a:t>17-09-2026</a:t>
            </a:fld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C4BF904-2B4D-1986-6D4C-27CBD9A5E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27443" y="6478792"/>
            <a:ext cx="876067" cy="379208"/>
          </a:xfrm>
        </p:spPr>
        <p:txBody>
          <a:bodyPr/>
          <a:lstStyle/>
          <a:p>
            <a:fld id="{0F06A4E2-163B-4ABA-8562-AD05AC3F17C5}" type="slidenum">
              <a:rPr lang="en-IN" sz="1800" smtClean="0">
                <a:solidFill>
                  <a:schemeClr val="tx1"/>
                </a:solidFill>
              </a:rPr>
              <a:t>15</a:t>
            </a:fld>
            <a:endParaRPr lang="en-IN" sz="1800" dirty="0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13CE1DE-D210-C7A2-61C0-FF7B6B511F8A}"/>
              </a:ext>
            </a:extLst>
          </p:cNvPr>
          <p:cNvSpPr txBox="1"/>
          <p:nvPr/>
        </p:nvSpPr>
        <p:spPr>
          <a:xfrm flipH="1">
            <a:off x="135928" y="877163"/>
            <a:ext cx="20638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0EC79EE-C1C4-E275-0987-67B7B3A60CCB}"/>
              </a:ext>
            </a:extLst>
          </p:cNvPr>
          <p:cNvSpPr txBox="1"/>
          <p:nvPr/>
        </p:nvSpPr>
        <p:spPr>
          <a:xfrm>
            <a:off x="8955476" y="31393"/>
            <a:ext cx="314803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Guide: 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Mr.Ch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. 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Vijayananda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Ratnam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Batch ID: C07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23BQ1A61B0 (TL), 23BQ1A61B3,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23BQ1A61F5, 24BQ5A6141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endParaRPr lang="en-IN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86" y="92353"/>
            <a:ext cx="993618" cy="69346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0EC79EE-C1C4-E275-0987-67B7B3A60CCB}"/>
              </a:ext>
            </a:extLst>
          </p:cNvPr>
          <p:cNvSpPr txBox="1"/>
          <p:nvPr/>
        </p:nvSpPr>
        <p:spPr>
          <a:xfrm>
            <a:off x="1531467" y="82617"/>
            <a:ext cx="742401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Federated Skin Disease Classification under Non-IID Data Using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Model-Contrastive Learning 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Footer Placeholder 11">
            <a:extLst>
              <a:ext uri="{FF2B5EF4-FFF2-40B4-BE49-F238E27FC236}">
                <a16:creationId xmlns:a16="http://schemas.microsoft.com/office/drawing/2014/main" id="{D814EF05-CC25-9D43-57B5-90EDB1ED1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99271" y="6460922"/>
            <a:ext cx="4114800" cy="365125"/>
          </a:xfrm>
        </p:spPr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Dept. CSM @ VVIT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13CE1DE-D210-C7A2-61C0-FF7B6B511F8A}"/>
              </a:ext>
            </a:extLst>
          </p:cNvPr>
          <p:cNvSpPr txBox="1"/>
          <p:nvPr/>
        </p:nvSpPr>
        <p:spPr>
          <a:xfrm flipH="1">
            <a:off x="135928" y="1326501"/>
            <a:ext cx="119201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 Proposed Method | Data &amp; Setup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key Results | </a:t>
            </a:r>
            <a:r>
              <a:rPr lang="en-IN" sz="14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Strengths &amp; Limitations | Relevance to my research |</a:t>
            </a:r>
          </a:p>
        </p:txBody>
      </p:sp>
      <p:sp>
        <p:nvSpPr>
          <p:cNvPr id="6" name="Rectangle 5"/>
          <p:cNvSpPr/>
          <p:nvPr/>
        </p:nvSpPr>
        <p:spPr>
          <a:xfrm>
            <a:off x="2082799" y="862390"/>
            <a:ext cx="1002070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/>
              <a:t>Ref 03 – </a:t>
            </a:r>
            <a:r>
              <a:rPr lang="en-IN" sz="1400" b="1" dirty="0" err="1"/>
              <a:t>PCRFed</a:t>
            </a:r>
            <a:r>
              <a:rPr lang="en-IN" sz="1400" b="1" dirty="0"/>
              <a:t>: Personalized Federated Learning with Contrastive Representation for Non-IID Medical Image Segmentation</a:t>
            </a:r>
            <a:br>
              <a:rPr lang="en-US" sz="1400" dirty="0"/>
            </a:br>
            <a:r>
              <a:rPr lang="en-US" sz="1400" i="1" dirty="0"/>
              <a:t>Author et al., 2025 | IEEE Transactions on Medical Imaging</a:t>
            </a:r>
            <a:endParaRPr lang="en-IN" sz="1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FECA32-A876-A971-8C23-001A2F7AE683}"/>
              </a:ext>
            </a:extLst>
          </p:cNvPr>
          <p:cNvSpPr txBox="1"/>
          <p:nvPr/>
        </p:nvSpPr>
        <p:spPr>
          <a:xfrm>
            <a:off x="498987" y="1821390"/>
            <a:ext cx="9232842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b="1" dirty="0"/>
              <a:t>Key Results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 err="1"/>
              <a:t>PCRFed</a:t>
            </a:r>
            <a:r>
              <a:rPr lang="en-IN" dirty="0"/>
              <a:t> improved segmentation performance under </a:t>
            </a:r>
            <a:r>
              <a:rPr lang="en-IN" b="1" dirty="0"/>
              <a:t>Non-IID data</a:t>
            </a:r>
            <a:r>
              <a:rPr lang="en-IN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Achieved an average </a:t>
            </a:r>
            <a:r>
              <a:rPr lang="en-IN" b="1" dirty="0"/>
              <a:t>2.63% improvement in Dice score</a:t>
            </a:r>
            <a:r>
              <a:rPr lang="en-IN" dirty="0"/>
              <a:t> for prostate segmentation.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Contrastive representation learning helped improve </a:t>
            </a:r>
            <a:r>
              <a:rPr lang="en-IN" b="1" dirty="0"/>
              <a:t>local model representations</a:t>
            </a:r>
            <a:r>
              <a:rPr lang="en-IN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Personalization helped address differences between </a:t>
            </a:r>
            <a:r>
              <a:rPr lang="en-IN" b="1" dirty="0"/>
              <a:t>client data distributions</a:t>
            </a:r>
            <a:r>
              <a:rPr lang="en-IN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Results demonstrate the potential of </a:t>
            </a:r>
            <a:r>
              <a:rPr lang="en-IN" b="1" dirty="0"/>
              <a:t>contrastive learning for reducing Non-IID effects</a:t>
            </a:r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775178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A7E60D7-07A0-BF33-3E66-E2F8C99B0E41}"/>
              </a:ext>
            </a:extLst>
          </p:cNvPr>
          <p:cNvSpPr/>
          <p:nvPr/>
        </p:nvSpPr>
        <p:spPr>
          <a:xfrm>
            <a:off x="-1" y="6980"/>
            <a:ext cx="12192000" cy="837398"/>
          </a:xfrm>
          <a:prstGeom prst="rect">
            <a:avLst/>
          </a:prstGeom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3598CB1-43FE-F616-74FA-6AEE59FA6BF1}"/>
              </a:ext>
            </a:extLst>
          </p:cNvPr>
          <p:cNvSpPr/>
          <p:nvPr/>
        </p:nvSpPr>
        <p:spPr>
          <a:xfrm>
            <a:off x="0" y="6451517"/>
            <a:ext cx="12192000" cy="393289"/>
          </a:xfrm>
          <a:prstGeom prst="rect">
            <a:avLst/>
          </a:prstGeom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87C7729E-193F-258C-8EF4-20F3CCBF18C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460922"/>
            <a:ext cx="997974" cy="365125"/>
          </a:xfrm>
        </p:spPr>
        <p:txBody>
          <a:bodyPr/>
          <a:lstStyle/>
          <a:p>
            <a:fld id="{C72AAC90-D07C-417D-96C6-81B39DB87062}" type="datetime1">
              <a:rPr lang="en-IN" smtClean="0">
                <a:solidFill>
                  <a:schemeClr val="tx1"/>
                </a:solidFill>
              </a:rPr>
              <a:t>17-09-2026</a:t>
            </a:fld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C4BF904-2B4D-1986-6D4C-27CBD9A5E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27443" y="6478792"/>
            <a:ext cx="876067" cy="379208"/>
          </a:xfrm>
        </p:spPr>
        <p:txBody>
          <a:bodyPr/>
          <a:lstStyle/>
          <a:p>
            <a:fld id="{0F06A4E2-163B-4ABA-8562-AD05AC3F17C5}" type="slidenum">
              <a:rPr lang="en-IN" sz="1800" smtClean="0">
                <a:solidFill>
                  <a:schemeClr val="tx1"/>
                </a:solidFill>
              </a:rPr>
              <a:t>16</a:t>
            </a:fld>
            <a:endParaRPr lang="en-IN" sz="1800" dirty="0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13CE1DE-D210-C7A2-61C0-FF7B6B511F8A}"/>
              </a:ext>
            </a:extLst>
          </p:cNvPr>
          <p:cNvSpPr txBox="1"/>
          <p:nvPr/>
        </p:nvSpPr>
        <p:spPr>
          <a:xfrm flipH="1">
            <a:off x="135928" y="877163"/>
            <a:ext cx="20638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0EC79EE-C1C4-E275-0987-67B7B3A60CCB}"/>
              </a:ext>
            </a:extLst>
          </p:cNvPr>
          <p:cNvSpPr txBox="1"/>
          <p:nvPr/>
        </p:nvSpPr>
        <p:spPr>
          <a:xfrm>
            <a:off x="8955476" y="31393"/>
            <a:ext cx="314803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Guide: 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Mr.Ch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. 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Vijayananda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Ratnam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Batch ID: C07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23BQ1A61B0 (TL), 23BQ1A61B3,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23BQ1A61F5, 24BQ5A6141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endParaRPr lang="en-IN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86" y="92353"/>
            <a:ext cx="993618" cy="69346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0EC79EE-C1C4-E275-0987-67B7B3A60CCB}"/>
              </a:ext>
            </a:extLst>
          </p:cNvPr>
          <p:cNvSpPr txBox="1"/>
          <p:nvPr/>
        </p:nvSpPr>
        <p:spPr>
          <a:xfrm>
            <a:off x="1531467" y="82617"/>
            <a:ext cx="742401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Federated Skin Disease Classification under Non-IID Data Using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Model-Contrastive Learning 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Footer Placeholder 11">
            <a:extLst>
              <a:ext uri="{FF2B5EF4-FFF2-40B4-BE49-F238E27FC236}">
                <a16:creationId xmlns:a16="http://schemas.microsoft.com/office/drawing/2014/main" id="{D814EF05-CC25-9D43-57B5-90EDB1ED1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99271" y="6460922"/>
            <a:ext cx="4114800" cy="365125"/>
          </a:xfrm>
        </p:spPr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Dept. CSM @ VVIT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13CE1DE-D210-C7A2-61C0-FF7B6B511F8A}"/>
              </a:ext>
            </a:extLst>
          </p:cNvPr>
          <p:cNvSpPr txBox="1"/>
          <p:nvPr/>
        </p:nvSpPr>
        <p:spPr>
          <a:xfrm flipH="1">
            <a:off x="135928" y="1326501"/>
            <a:ext cx="119201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 Proposed Method | Data &amp; Setup | key Results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Strengths &amp; Limitations | </a:t>
            </a:r>
            <a:r>
              <a:rPr lang="en-IN" sz="14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Relevance to my research |</a:t>
            </a:r>
          </a:p>
        </p:txBody>
      </p:sp>
      <p:sp>
        <p:nvSpPr>
          <p:cNvPr id="6" name="Rectangle 5"/>
          <p:cNvSpPr/>
          <p:nvPr/>
        </p:nvSpPr>
        <p:spPr>
          <a:xfrm>
            <a:off x="2082799" y="862390"/>
            <a:ext cx="1002070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/>
              <a:t>Ref 03 – </a:t>
            </a:r>
            <a:r>
              <a:rPr lang="en-IN" sz="1400" b="1" dirty="0" err="1"/>
              <a:t>PCRFed</a:t>
            </a:r>
            <a:r>
              <a:rPr lang="en-IN" sz="1400" b="1" dirty="0"/>
              <a:t>: Personalized Federated Learning with Contrastive Representation for Non-IID Medical Image Segmentation</a:t>
            </a:r>
            <a:br>
              <a:rPr lang="en-US" sz="1400" dirty="0"/>
            </a:br>
            <a:r>
              <a:rPr lang="en-US" sz="1400" i="1" dirty="0"/>
              <a:t>Author et al., 2025 | IEEE Transactions on Medical Imaging</a:t>
            </a:r>
            <a:endParaRPr lang="en-IN" sz="1400" dirty="0"/>
          </a:p>
        </p:txBody>
      </p:sp>
      <p:sp>
        <p:nvSpPr>
          <p:cNvPr id="7" name="Rounded Rectangle 6"/>
          <p:cNvSpPr/>
          <p:nvPr/>
        </p:nvSpPr>
        <p:spPr>
          <a:xfrm>
            <a:off x="264160" y="2194560"/>
            <a:ext cx="5699760" cy="3749040"/>
          </a:xfrm>
          <a:prstGeom prst="roundRect">
            <a:avLst>
              <a:gd name="adj" fmla="val 3659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Specifically addresses </a:t>
            </a:r>
            <a:r>
              <a:rPr lang="en-IN" b="1" dirty="0">
                <a:solidFill>
                  <a:schemeClr val="tx1"/>
                </a:solidFill>
              </a:rPr>
              <a:t>Non-IID medical imaging</a:t>
            </a:r>
            <a:r>
              <a:rPr lang="en-IN" dirty="0">
                <a:solidFill>
                  <a:schemeClr val="tx1"/>
                </a:solidFill>
              </a:rPr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Combines </a:t>
            </a:r>
            <a:r>
              <a:rPr lang="en-IN" b="1" dirty="0">
                <a:solidFill>
                  <a:schemeClr val="tx1"/>
                </a:solidFill>
              </a:rPr>
              <a:t>personalization and contrastive learning</a:t>
            </a:r>
            <a:r>
              <a:rPr lang="en-IN" dirty="0">
                <a:solidFill>
                  <a:schemeClr val="tx1"/>
                </a:solidFill>
              </a:rPr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Uses </a:t>
            </a:r>
            <a:r>
              <a:rPr lang="en-IN" b="1" dirty="0">
                <a:solidFill>
                  <a:schemeClr val="tx1"/>
                </a:solidFill>
              </a:rPr>
              <a:t>model-contrastive loss</a:t>
            </a:r>
            <a:r>
              <a:rPr lang="en-IN" dirty="0">
                <a:solidFill>
                  <a:schemeClr val="tx1"/>
                </a:solidFill>
              </a:rPr>
              <a:t> to improve representation consistency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Improves performance while preserving </a:t>
            </a:r>
            <a:r>
              <a:rPr lang="en-IN" b="1" dirty="0">
                <a:solidFill>
                  <a:schemeClr val="tx1"/>
                </a:solidFill>
              </a:rPr>
              <a:t>client-specific information</a:t>
            </a:r>
            <a:r>
              <a:rPr lang="en-IN" dirty="0">
                <a:solidFill>
                  <a:schemeClr val="tx1"/>
                </a:solidFill>
              </a:rPr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Demonstrates measurable improvement in </a:t>
            </a:r>
            <a:r>
              <a:rPr lang="en-IN" b="1" dirty="0">
                <a:solidFill>
                  <a:schemeClr val="tx1"/>
                </a:solidFill>
              </a:rPr>
              <a:t>Dice score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146800" y="2194560"/>
            <a:ext cx="5699760" cy="3749040"/>
          </a:xfrm>
          <a:prstGeom prst="roundRect">
            <a:avLst>
              <a:gd name="adj" fmla="val 3659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Focuses on </a:t>
            </a:r>
            <a:r>
              <a:rPr lang="en-IN" b="1" dirty="0">
                <a:solidFill>
                  <a:schemeClr val="tx1"/>
                </a:solidFill>
              </a:rPr>
              <a:t>medical image segmentation</a:t>
            </a:r>
            <a:r>
              <a:rPr lang="en-IN" dirty="0">
                <a:solidFill>
                  <a:schemeClr val="tx1"/>
                </a:solidFill>
              </a:rPr>
              <a:t>, not classification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Evaluated mainly on </a:t>
            </a:r>
            <a:r>
              <a:rPr lang="en-IN" b="1" dirty="0">
                <a:solidFill>
                  <a:schemeClr val="tx1"/>
                </a:solidFill>
              </a:rPr>
              <a:t>specific medical imaging tasks</a:t>
            </a:r>
            <a:r>
              <a:rPr lang="en-IN" dirty="0">
                <a:solidFill>
                  <a:schemeClr val="tx1"/>
                </a:solidFill>
              </a:rPr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Requires additional </a:t>
            </a:r>
            <a:r>
              <a:rPr lang="en-IN" b="1" dirty="0">
                <a:solidFill>
                  <a:schemeClr val="tx1"/>
                </a:solidFill>
              </a:rPr>
              <a:t>contrastive-learning components and loss design</a:t>
            </a:r>
            <a:r>
              <a:rPr lang="en-IN" dirty="0">
                <a:solidFill>
                  <a:schemeClr val="tx1"/>
                </a:solidFill>
              </a:rPr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Generalization to other medical applications requires further evaluation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6259202" y="2148841"/>
            <a:ext cx="5441307" cy="45719"/>
          </a:xfrm>
          <a:prstGeom prst="rect">
            <a:avLst/>
          </a:prstGeom>
          <a:solidFill>
            <a:srgbClr val="EC7E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/>
          <p:cNvSpPr/>
          <p:nvPr/>
        </p:nvSpPr>
        <p:spPr>
          <a:xfrm>
            <a:off x="393386" y="2148841"/>
            <a:ext cx="5441307" cy="45719"/>
          </a:xfrm>
          <a:prstGeom prst="rect">
            <a:avLst/>
          </a:prstGeom>
          <a:solidFill>
            <a:srgbClr val="EC7E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/>
          <p:cNvSpPr txBox="1"/>
          <p:nvPr/>
        </p:nvSpPr>
        <p:spPr>
          <a:xfrm>
            <a:off x="393386" y="1799012"/>
            <a:ext cx="10758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Strengths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59202" y="1779509"/>
            <a:ext cx="12490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</a:p>
        </p:txBody>
      </p:sp>
    </p:spTree>
    <p:extLst>
      <p:ext uri="{BB962C8B-B14F-4D97-AF65-F5344CB8AC3E}">
        <p14:creationId xmlns:p14="http://schemas.microsoft.com/office/powerpoint/2010/main" val="25981638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A7E60D7-07A0-BF33-3E66-E2F8C99B0E41}"/>
              </a:ext>
            </a:extLst>
          </p:cNvPr>
          <p:cNvSpPr/>
          <p:nvPr/>
        </p:nvSpPr>
        <p:spPr>
          <a:xfrm>
            <a:off x="-1" y="6980"/>
            <a:ext cx="12192000" cy="837398"/>
          </a:xfrm>
          <a:prstGeom prst="rect">
            <a:avLst/>
          </a:prstGeom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3598CB1-43FE-F616-74FA-6AEE59FA6BF1}"/>
              </a:ext>
            </a:extLst>
          </p:cNvPr>
          <p:cNvSpPr/>
          <p:nvPr/>
        </p:nvSpPr>
        <p:spPr>
          <a:xfrm>
            <a:off x="0" y="6451517"/>
            <a:ext cx="12192000" cy="393289"/>
          </a:xfrm>
          <a:prstGeom prst="rect">
            <a:avLst/>
          </a:prstGeom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87C7729E-193F-258C-8EF4-20F3CCBF18C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460922"/>
            <a:ext cx="997974" cy="365125"/>
          </a:xfrm>
        </p:spPr>
        <p:txBody>
          <a:bodyPr/>
          <a:lstStyle/>
          <a:p>
            <a:fld id="{C72AAC90-D07C-417D-96C6-81B39DB87062}" type="datetime1">
              <a:rPr lang="en-IN" smtClean="0">
                <a:solidFill>
                  <a:schemeClr val="tx1"/>
                </a:solidFill>
              </a:rPr>
              <a:t>17-09-2026</a:t>
            </a:fld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C4BF904-2B4D-1986-6D4C-27CBD9A5E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27443" y="6478792"/>
            <a:ext cx="876067" cy="379208"/>
          </a:xfrm>
        </p:spPr>
        <p:txBody>
          <a:bodyPr/>
          <a:lstStyle/>
          <a:p>
            <a:fld id="{0F06A4E2-163B-4ABA-8562-AD05AC3F17C5}" type="slidenum">
              <a:rPr lang="en-IN" sz="1800" smtClean="0">
                <a:solidFill>
                  <a:schemeClr val="tx1"/>
                </a:solidFill>
              </a:rPr>
              <a:t>17</a:t>
            </a:fld>
            <a:endParaRPr lang="en-IN" sz="1800" dirty="0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13CE1DE-D210-C7A2-61C0-FF7B6B511F8A}"/>
              </a:ext>
            </a:extLst>
          </p:cNvPr>
          <p:cNvSpPr txBox="1"/>
          <p:nvPr/>
        </p:nvSpPr>
        <p:spPr>
          <a:xfrm flipH="1">
            <a:off x="135928" y="877163"/>
            <a:ext cx="20638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0EC79EE-C1C4-E275-0987-67B7B3A60CCB}"/>
              </a:ext>
            </a:extLst>
          </p:cNvPr>
          <p:cNvSpPr txBox="1"/>
          <p:nvPr/>
        </p:nvSpPr>
        <p:spPr>
          <a:xfrm>
            <a:off x="8955476" y="31393"/>
            <a:ext cx="314803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Guide: 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Mr.Ch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. 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Vijayananda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Ratnam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Batch ID: C07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23BQ1A61B0 (TL), 23BQ1A61B3,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23BQ1A61F5, 24BQ5A6141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endParaRPr lang="en-IN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86" y="92353"/>
            <a:ext cx="993618" cy="69346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0EC79EE-C1C4-E275-0987-67B7B3A60CCB}"/>
              </a:ext>
            </a:extLst>
          </p:cNvPr>
          <p:cNvSpPr txBox="1"/>
          <p:nvPr/>
        </p:nvSpPr>
        <p:spPr>
          <a:xfrm>
            <a:off x="1531467" y="82617"/>
            <a:ext cx="74240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Federated Skin Disease Classification under Non-IID Data Using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Model-Contrastive Learning </a:t>
            </a:r>
          </a:p>
        </p:txBody>
      </p:sp>
      <p:sp>
        <p:nvSpPr>
          <p:cNvPr id="16" name="Footer Placeholder 11">
            <a:extLst>
              <a:ext uri="{FF2B5EF4-FFF2-40B4-BE49-F238E27FC236}">
                <a16:creationId xmlns:a16="http://schemas.microsoft.com/office/drawing/2014/main" id="{D814EF05-CC25-9D43-57B5-90EDB1ED1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99271" y="6460922"/>
            <a:ext cx="4114800" cy="365125"/>
          </a:xfrm>
        </p:spPr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Dept. CSM @ VVIT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13CE1DE-D210-C7A2-61C0-FF7B6B511F8A}"/>
              </a:ext>
            </a:extLst>
          </p:cNvPr>
          <p:cNvSpPr txBox="1"/>
          <p:nvPr/>
        </p:nvSpPr>
        <p:spPr>
          <a:xfrm flipH="1">
            <a:off x="135928" y="1326501"/>
            <a:ext cx="119201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 Proposed Method | Data &amp; Setup | key Results | Strengths &amp; Limitations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Relevance to my research |</a:t>
            </a:r>
          </a:p>
        </p:txBody>
      </p:sp>
      <p:sp>
        <p:nvSpPr>
          <p:cNvPr id="6" name="Rectangle 5"/>
          <p:cNvSpPr/>
          <p:nvPr/>
        </p:nvSpPr>
        <p:spPr>
          <a:xfrm>
            <a:off x="2082799" y="862390"/>
            <a:ext cx="1002070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/>
              <a:t>Ref 03 – </a:t>
            </a:r>
            <a:r>
              <a:rPr lang="en-IN" sz="1400" b="1" dirty="0" err="1"/>
              <a:t>PCRFed</a:t>
            </a:r>
            <a:r>
              <a:rPr lang="en-IN" sz="1400" b="1" dirty="0"/>
              <a:t>: Personalized Federated Learning with Contrastive Representation for Non-IID Medical Image Segmentation</a:t>
            </a:r>
            <a:br>
              <a:rPr lang="en-US" sz="1400" dirty="0"/>
            </a:br>
            <a:r>
              <a:rPr lang="en-US" sz="1400" i="1" dirty="0"/>
              <a:t>Author et al., 2024 | IEEE Transactions on Medical Imaging</a:t>
            </a:r>
            <a:endParaRPr lang="en-IN" sz="1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850020-62AC-84C5-50D3-18E673E08399}"/>
              </a:ext>
            </a:extLst>
          </p:cNvPr>
          <p:cNvSpPr txBox="1"/>
          <p:nvPr/>
        </p:nvSpPr>
        <p:spPr>
          <a:xfrm>
            <a:off x="498987" y="1821390"/>
            <a:ext cx="9167527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Relevance to My Research</a:t>
            </a:r>
            <a:br>
              <a:rPr lang="en-IN" b="1" dirty="0"/>
            </a:br>
            <a:endParaRPr lang="en-IN" b="1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Directly addresses the </a:t>
            </a:r>
            <a:r>
              <a:rPr lang="en-IN" b="1" dirty="0"/>
              <a:t>Non-IID problem</a:t>
            </a:r>
            <a:r>
              <a:rPr lang="en-IN" dirty="0"/>
              <a:t> in medical FL.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Demonstrates the usefulness of </a:t>
            </a:r>
            <a:r>
              <a:rPr lang="en-IN" b="1" dirty="0"/>
              <a:t>contrastive representation learning</a:t>
            </a:r>
            <a:r>
              <a:rPr lang="en-IN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Provides motivation for using </a:t>
            </a:r>
            <a:r>
              <a:rPr lang="en-IN" b="1" dirty="0"/>
              <a:t>model-level contrastive learning</a:t>
            </a:r>
            <a:r>
              <a:rPr lang="en-IN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Shows that contrastive learning can improve performance under </a:t>
            </a:r>
            <a:r>
              <a:rPr lang="en-IN" b="1" dirty="0"/>
              <a:t>client heterogeneity</a:t>
            </a:r>
            <a:r>
              <a:rPr lang="en-IN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Our work applies this concept to </a:t>
            </a:r>
            <a:r>
              <a:rPr lang="en-IN" b="1" dirty="0"/>
              <a:t>skin disease classification</a:t>
            </a:r>
            <a:r>
              <a:rPr lang="en-IN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 err="1"/>
              <a:t>FedProx</a:t>
            </a:r>
            <a:r>
              <a:rPr lang="en-IN" dirty="0"/>
              <a:t> is used as our baseline for comparison.</a:t>
            </a:r>
          </a:p>
        </p:txBody>
      </p:sp>
    </p:spTree>
    <p:extLst>
      <p:ext uri="{BB962C8B-B14F-4D97-AF65-F5344CB8AC3E}">
        <p14:creationId xmlns:p14="http://schemas.microsoft.com/office/powerpoint/2010/main" val="38672054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A7E60D7-07A0-BF33-3E66-E2F8C99B0E41}"/>
              </a:ext>
            </a:extLst>
          </p:cNvPr>
          <p:cNvSpPr/>
          <p:nvPr/>
        </p:nvSpPr>
        <p:spPr>
          <a:xfrm>
            <a:off x="-1" y="6980"/>
            <a:ext cx="12192000" cy="837398"/>
          </a:xfrm>
          <a:prstGeom prst="rect">
            <a:avLst/>
          </a:prstGeom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3598CB1-43FE-F616-74FA-6AEE59FA6BF1}"/>
              </a:ext>
            </a:extLst>
          </p:cNvPr>
          <p:cNvSpPr/>
          <p:nvPr/>
        </p:nvSpPr>
        <p:spPr>
          <a:xfrm>
            <a:off x="0" y="6451517"/>
            <a:ext cx="12192000" cy="393289"/>
          </a:xfrm>
          <a:prstGeom prst="rect">
            <a:avLst/>
          </a:prstGeom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87C7729E-193F-258C-8EF4-20F3CCBF18C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460922"/>
            <a:ext cx="997974" cy="365125"/>
          </a:xfrm>
        </p:spPr>
        <p:txBody>
          <a:bodyPr/>
          <a:lstStyle/>
          <a:p>
            <a:fld id="{C72AAC90-D07C-417D-96C6-81B39DB87062}" type="datetime1">
              <a:rPr lang="en-IN" smtClean="0">
                <a:solidFill>
                  <a:schemeClr val="tx1"/>
                </a:solidFill>
              </a:rPr>
              <a:t>17-09-2026</a:t>
            </a:fld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C4BF904-2B4D-1986-6D4C-27CBD9A5E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27443" y="6478792"/>
            <a:ext cx="876067" cy="379208"/>
          </a:xfrm>
        </p:spPr>
        <p:txBody>
          <a:bodyPr/>
          <a:lstStyle/>
          <a:p>
            <a:fld id="{0F06A4E2-163B-4ABA-8562-AD05AC3F17C5}" type="slidenum">
              <a:rPr lang="en-IN" sz="1800" smtClean="0">
                <a:solidFill>
                  <a:schemeClr val="tx1"/>
                </a:solidFill>
              </a:rPr>
              <a:t>18</a:t>
            </a:fld>
            <a:endParaRPr lang="en-IN" sz="1800" dirty="0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13CE1DE-D210-C7A2-61C0-FF7B6B511F8A}"/>
              </a:ext>
            </a:extLst>
          </p:cNvPr>
          <p:cNvSpPr txBox="1"/>
          <p:nvPr/>
        </p:nvSpPr>
        <p:spPr>
          <a:xfrm flipH="1">
            <a:off x="135927" y="877163"/>
            <a:ext cx="71676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 - Summary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0EC79EE-C1C4-E275-0987-67B7B3A60CCB}"/>
              </a:ext>
            </a:extLst>
          </p:cNvPr>
          <p:cNvSpPr txBox="1"/>
          <p:nvPr/>
        </p:nvSpPr>
        <p:spPr>
          <a:xfrm>
            <a:off x="8955476" y="31393"/>
            <a:ext cx="314803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Guide: 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Mr.Ch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. 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Vijayananda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Ratnam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Batch ID: C07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23BQ1A61B0 (TL), 23BQ1A61B3,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23BQ1A61F5, 24BQ5A6141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endParaRPr lang="en-IN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86" y="92353"/>
            <a:ext cx="993618" cy="69346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0EC79EE-C1C4-E275-0987-67B7B3A60CCB}"/>
              </a:ext>
            </a:extLst>
          </p:cNvPr>
          <p:cNvSpPr txBox="1"/>
          <p:nvPr/>
        </p:nvSpPr>
        <p:spPr>
          <a:xfrm>
            <a:off x="1531467" y="82617"/>
            <a:ext cx="74240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Federated Skin Disease Classification under Non-IID Data Using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Model-Contrastive Learning </a:t>
            </a:r>
          </a:p>
        </p:txBody>
      </p:sp>
      <p:sp>
        <p:nvSpPr>
          <p:cNvPr id="16" name="Footer Placeholder 11">
            <a:extLst>
              <a:ext uri="{FF2B5EF4-FFF2-40B4-BE49-F238E27FC236}">
                <a16:creationId xmlns:a16="http://schemas.microsoft.com/office/drawing/2014/main" id="{D814EF05-CC25-9D43-57B5-90EDB1ED1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99271" y="6460922"/>
            <a:ext cx="4114800" cy="365125"/>
          </a:xfrm>
        </p:spPr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Dept. CSM @ VVIT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0017143"/>
              </p:ext>
            </p:extLst>
          </p:nvPr>
        </p:nvGraphicFramePr>
        <p:xfrm>
          <a:off x="600995" y="1636938"/>
          <a:ext cx="10887920" cy="347199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596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320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410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775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7758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28798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Reference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Main Idea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Strengths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Limitations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8798">
                <a:tc>
                  <a:txBody>
                    <a:bodyPr/>
                    <a:lstStyle/>
                    <a:p>
                      <a:r>
                        <a:rPr lang="en-IN" dirty="0"/>
                        <a:t>Guan et al.</a:t>
                      </a:r>
                      <a:endParaRPr lang="en-IN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Survey of FL in medical image analysis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Covers privacy, Non-IID challenges and FL methods</a:t>
                      </a:r>
                      <a:endParaRPr lang="en-IN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Survey; no new experimental method</a:t>
                      </a:r>
                      <a:endParaRPr lang="en-IN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8798">
                <a:tc>
                  <a:txBody>
                    <a:bodyPr/>
                    <a:lstStyle/>
                    <a:p>
                      <a:r>
                        <a:rPr lang="en-IN" dirty="0"/>
                        <a:t>Gulati et al.</a:t>
                      </a:r>
                      <a:endParaRPr lang="en-IN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Privacy-preserving FL for retinal disease detection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FedAvg</a:t>
                      </a:r>
                      <a:r>
                        <a:rPr lang="en-IN" dirty="0"/>
                        <a:t>/</a:t>
                      </a:r>
                      <a:r>
                        <a:rPr lang="en-IN" dirty="0" err="1"/>
                        <a:t>FedProx</a:t>
                      </a:r>
                      <a:r>
                        <a:rPr lang="en-IN" dirty="0"/>
                        <a:t> comparison; IID &amp; Non-IID evaluation</a:t>
                      </a:r>
                      <a:endParaRPr lang="en-IN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Limited clients and retinal dataset</a:t>
                      </a:r>
                      <a:endParaRPr lang="en-IN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42116266"/>
                  </a:ext>
                </a:extLst>
              </a:tr>
              <a:tr h="728798">
                <a:tc>
                  <a:txBody>
                    <a:bodyPr/>
                    <a:lstStyle/>
                    <a:p>
                      <a:r>
                        <a:rPr lang="en-IN" dirty="0"/>
                        <a:t>Liu et al.</a:t>
                      </a:r>
                      <a:endParaRPr lang="en-IN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Personalized FL with contrastive representation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Addresses Non-IID medical imaging; improves Dice score</a:t>
                      </a:r>
                      <a:endParaRPr lang="en-IN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Focused on segmentation</a:t>
                      </a:r>
                      <a:endParaRPr lang="en-IN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58588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A7E60D7-07A0-BF33-3E66-E2F8C99B0E41}"/>
              </a:ext>
            </a:extLst>
          </p:cNvPr>
          <p:cNvSpPr/>
          <p:nvPr/>
        </p:nvSpPr>
        <p:spPr>
          <a:xfrm>
            <a:off x="-1" y="6980"/>
            <a:ext cx="12192000" cy="837398"/>
          </a:xfrm>
          <a:prstGeom prst="rect">
            <a:avLst/>
          </a:prstGeom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3598CB1-43FE-F616-74FA-6AEE59FA6BF1}"/>
              </a:ext>
            </a:extLst>
          </p:cNvPr>
          <p:cNvSpPr/>
          <p:nvPr/>
        </p:nvSpPr>
        <p:spPr>
          <a:xfrm>
            <a:off x="0" y="6451517"/>
            <a:ext cx="12192000" cy="393289"/>
          </a:xfrm>
          <a:prstGeom prst="rect">
            <a:avLst/>
          </a:prstGeom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87C7729E-193F-258C-8EF4-20F3CCBF18C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460922"/>
            <a:ext cx="997974" cy="365125"/>
          </a:xfrm>
        </p:spPr>
        <p:txBody>
          <a:bodyPr/>
          <a:lstStyle/>
          <a:p>
            <a:fld id="{C72AAC90-D07C-417D-96C6-81B39DB87062}" type="datetime1">
              <a:rPr lang="en-IN" smtClean="0">
                <a:solidFill>
                  <a:schemeClr val="tx1"/>
                </a:solidFill>
              </a:rPr>
              <a:t>17-09-2026</a:t>
            </a:fld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C4BF904-2B4D-1986-6D4C-27CBD9A5E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27443" y="6478792"/>
            <a:ext cx="876067" cy="379208"/>
          </a:xfrm>
        </p:spPr>
        <p:txBody>
          <a:bodyPr/>
          <a:lstStyle/>
          <a:p>
            <a:fld id="{0F06A4E2-163B-4ABA-8562-AD05AC3F17C5}" type="slidenum">
              <a:rPr lang="en-IN" sz="1800" smtClean="0">
                <a:solidFill>
                  <a:schemeClr val="tx1"/>
                </a:solidFill>
              </a:rPr>
              <a:t>19</a:t>
            </a:fld>
            <a:endParaRPr lang="en-IN" sz="1800" dirty="0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13CE1DE-D210-C7A2-61C0-FF7B6B511F8A}"/>
              </a:ext>
            </a:extLst>
          </p:cNvPr>
          <p:cNvSpPr txBox="1"/>
          <p:nvPr/>
        </p:nvSpPr>
        <p:spPr>
          <a:xfrm flipH="1">
            <a:off x="135927" y="877163"/>
            <a:ext cx="71676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 – 1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0EC79EE-C1C4-E275-0987-67B7B3A60CCB}"/>
              </a:ext>
            </a:extLst>
          </p:cNvPr>
          <p:cNvSpPr txBox="1"/>
          <p:nvPr/>
        </p:nvSpPr>
        <p:spPr>
          <a:xfrm>
            <a:off x="8955476" y="31393"/>
            <a:ext cx="314803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Guide: 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Mr.Ch.Vijayananda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Ratnam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Batch ID: C07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23BQ1A61B0 (TL), 23BQ1A61B3,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23BQ1A61F5, 24BQ5A6141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endParaRPr lang="en-IN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86" y="92353"/>
            <a:ext cx="993618" cy="69346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0EC79EE-C1C4-E275-0987-67B7B3A60CCB}"/>
              </a:ext>
            </a:extLst>
          </p:cNvPr>
          <p:cNvSpPr txBox="1"/>
          <p:nvPr/>
        </p:nvSpPr>
        <p:spPr>
          <a:xfrm>
            <a:off x="1531467" y="82617"/>
            <a:ext cx="74240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Federated Skin Disease Classification under Non-IID Data Using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Model-Contrastive Learning</a:t>
            </a:r>
          </a:p>
        </p:txBody>
      </p:sp>
      <p:sp>
        <p:nvSpPr>
          <p:cNvPr id="16" name="Footer Placeholder 11">
            <a:extLst>
              <a:ext uri="{FF2B5EF4-FFF2-40B4-BE49-F238E27FC236}">
                <a16:creationId xmlns:a16="http://schemas.microsoft.com/office/drawing/2014/main" id="{D814EF05-CC25-9D43-57B5-90EDB1ED1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99271" y="6460922"/>
            <a:ext cx="4114800" cy="365125"/>
          </a:xfrm>
        </p:spPr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Dept. CSM @ VVIT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41448" y="3010622"/>
            <a:ext cx="22365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13220437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1386</TotalTime>
  <Words>2691</Words>
  <Application>Microsoft Office PowerPoint</Application>
  <PresentationFormat>Widescreen</PresentationFormat>
  <Paragraphs>423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mualidhar V</dc:creator>
  <cp:lastModifiedBy>Meghana Kathari</cp:lastModifiedBy>
  <cp:revision>51</cp:revision>
  <dcterms:created xsi:type="dcterms:W3CDTF">2023-07-18T12:47:32Z</dcterms:created>
  <dcterms:modified xsi:type="dcterms:W3CDTF">2026-09-17T17:22:23Z</dcterms:modified>
</cp:coreProperties>
</file>